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79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NTA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  //  CHALLENGE 1  //  CHURN OPTIMIZATION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AI DATA SCIENTIST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</a:t>
            </a:r>
            <a:endParaRPr lang="en-US" sz="8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Budget-Constrained Churn Optimization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planner tunes a CatBoost churn model in 15 experiments or fewer, and stops on its own once accuracy plateaus.</a:t>
            </a:r>
            <a:endParaRPr lang="en-US" sz="1800" dirty="0"/>
          </a:p>
        </p:txBody>
      </p:sp>
      <p:sp>
        <p:nvSpPr>
          <p:cNvPr id="6" name="member"/>
          <p:cNvSpPr/>
          <p:nvPr/>
        </p:nvSpPr>
        <p:spPr>
          <a:xfrm>
            <a:off x="73152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Ishitwa</a:t>
            </a:r>
            <a:endParaRPr lang="en-US" sz="1600" dirty="0"/>
          </a:p>
        </p:txBody>
      </p:sp>
      <p:sp>
        <p:nvSpPr>
          <p:cNvPr id="8" name="member"/>
          <p:cNvSpPr/>
          <p:nvPr/>
        </p:nvSpPr>
        <p:spPr>
          <a:xfrm>
            <a:off x="288036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Uday</a:t>
            </a:r>
            <a:endParaRPr lang="en-US" sz="1600" dirty="0"/>
          </a:p>
        </p:txBody>
      </p:sp>
      <p:sp>
        <p:nvSpPr>
          <p:cNvPr id="10" name="member"/>
          <p:cNvSpPr/>
          <p:nvPr/>
        </p:nvSpPr>
        <p:spPr>
          <a:xfrm>
            <a:off x="502920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Avikshith</a:t>
            </a:r>
            <a:endParaRPr lang="en-US" sz="1600" dirty="0"/>
          </a:p>
        </p:txBody>
      </p:sp>
      <p:sp>
        <p:nvSpPr>
          <p:cNvPr id="12" name="member"/>
          <p:cNvSpPr/>
          <p:nvPr/>
        </p:nvSpPr>
        <p:spPr>
          <a:xfrm>
            <a:off x="7178040" y="46634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4663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Jayavardhan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577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TRACK: CHALLENGE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stat"/>
          <p:cNvSpPr/>
          <p:nvPr/>
        </p:nvSpPr>
        <p:spPr>
          <a:xfrm>
            <a:off x="54864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7,043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customers to score</a:t>
            </a:r>
            <a:endParaRPr lang="en-US" sz="1600" dirty="0"/>
          </a:p>
        </p:txBody>
      </p:sp>
      <p:sp>
        <p:nvSpPr>
          <p:cNvPr id="7" name="stat"/>
          <p:cNvSpPr/>
          <p:nvPr/>
        </p:nvSpPr>
        <p:spPr>
          <a:xfrm>
            <a:off x="429768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371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fit-and-validate experiments</a:t>
            </a:r>
            <a:endParaRPr lang="en-US" sz="1600" dirty="0"/>
          </a:p>
        </p:txBody>
      </p:sp>
      <p:sp>
        <p:nvSpPr>
          <p:cNvPr id="10" name="stat"/>
          <p:cNvSpPr/>
          <p:nvPr/>
        </p:nvSpPr>
        <p:spPr>
          <a:xfrm>
            <a:off x="8046720" y="12801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1371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× Eff.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score formula</a:t>
            </a:r>
            <a:endParaRPr lang="en-US" sz="1600" dirty="0"/>
          </a:p>
        </p:txBody>
      </p:sp>
      <p:sp>
        <p:nvSpPr>
          <p:cNvPr id="13" name="cost"/>
          <p:cNvSpPr/>
          <p:nvPr/>
        </p:nvSpPr>
        <p:spPr>
          <a:xfrm>
            <a:off x="548640" y="310896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 of being wrong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churner (false negative): recurring revenue is lost without warning.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(false positive): a retention offer is wasted on a happy customer.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rank customers by churn risk so offers reach the right people.</a:t>
            </a:r>
            <a:endParaRPr lang="en-US" sz="1500" dirty="0"/>
          </a:p>
        </p:txBody>
      </p:sp>
      <p:sp>
        <p:nvSpPr>
          <p:cNvPr id="16" name="constraint"/>
          <p:cNvSpPr/>
          <p:nvPr/>
        </p:nvSpPr>
        <p:spPr>
          <a:xfrm>
            <a:off x="6217920" y="310896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constraint that shapes everything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search over 5 hyperparameters needs 1,000+ training runs.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15 runs, so every experiment must be chosen using feedback from the last.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runs used means a higher efficiency factor and a better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&amp; PREPROCESSING</a:t>
            </a:r>
            <a:endParaRPr lang="en-US" sz="3000" dirty="0"/>
          </a:p>
        </p:txBody>
      </p:sp>
      <p:sp>
        <p:nvSpPr>
          <p:cNvPr id="4" name="imbalance"/>
          <p:cNvSpPr/>
          <p:nvPr/>
        </p:nvSpPr>
        <p:spPr>
          <a:xfrm>
            <a:off x="548640" y="128016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Telco churn: 7,043 rows, 21 columns (16 categorical)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776257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85530" y="1920240"/>
            <a:ext cx="279875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7625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  73.5%  (5,174)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85530" y="1920240"/>
            <a:ext cx="2798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26.5%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505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 about 2.77 : 1, which is why PR-AUC is tracked alongside ROC-AUC</a:t>
            </a:r>
            <a:endParaRPr lang="en-US" sz="1300" dirty="0"/>
          </a:p>
        </p:txBody>
      </p:sp>
      <p:sp>
        <p:nvSpPr>
          <p:cNvPr id="11" name="prep"/>
          <p:cNvSpPr/>
          <p:nvPr/>
        </p:nvSpPr>
        <p:spPr>
          <a:xfrm>
            <a:off x="548640" y="29718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81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stratified: 5,634 train / 1,409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ratio preserved in both 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k-fold, to protect the run budget</a:t>
            </a:r>
            <a:endParaRPr lang="en-US" sz="1300" dirty="0"/>
          </a:p>
        </p:txBody>
      </p:sp>
      <p:sp>
        <p:nvSpPr>
          <p:cNvPr id="14" name="prep"/>
          <p:cNvSpPr/>
          <p:nvPr/>
        </p:nvSpPr>
        <p:spPr>
          <a:xfrm>
            <a:off x="6172200" y="29718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081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TotalCharges (tenure = 0) coerced and imputed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happens before run 1 and costs 0 experiments</a:t>
            </a:r>
            <a:endParaRPr lang="en-US" sz="1300" dirty="0"/>
          </a:p>
        </p:txBody>
      </p:sp>
      <p:sp>
        <p:nvSpPr>
          <p:cNvPr id="17" name="prep"/>
          <p:cNvSpPr/>
          <p:nvPr/>
        </p:nvSpPr>
        <p:spPr>
          <a:xfrm>
            <a:off x="548640" y="45720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Surge Ratio: sudden bill increases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Lock-In Index: count of active add-ons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Contract Flag: month-to-month + e-check</a:t>
            </a:r>
            <a:endParaRPr lang="en-US" sz="1300" dirty="0"/>
          </a:p>
        </p:txBody>
      </p:sp>
      <p:sp>
        <p:nvSpPr>
          <p:cNvPr id="20" name="prep"/>
          <p:cNvSpPr/>
          <p:nvPr/>
        </p:nvSpPr>
        <p:spPr>
          <a:xfrm>
            <a:off x="6172200" y="45720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filtering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scores, which are model-free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Low-signal columns dropped at no experiment cost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DESIGN &amp; PIPELINE</a:t>
            </a:r>
            <a:endParaRPr lang="en-US" sz="3000" dirty="0"/>
          </a:p>
        </p:txBody>
      </p:sp>
      <p:sp>
        <p:nvSpPr>
          <p:cNvPr id="4" name="stage"/>
          <p:cNvSpPr/>
          <p:nvPr/>
        </p:nvSpPr>
        <p:spPr>
          <a:xfrm>
            <a:off x="548640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Pre-Processor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7,043-row CSV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and engineer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0 / 15 runs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10" name="stage"/>
          <p:cNvSpPr/>
          <p:nvPr/>
        </p:nvSpPr>
        <p:spPr>
          <a:xfrm>
            <a:off x="3401568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169164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016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Controller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runs ≤ 15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fit + predict_proba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ROC &amp; PR-AUC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88736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16" name="stage"/>
          <p:cNvSpPr/>
          <p:nvPr/>
        </p:nvSpPr>
        <p:spPr>
          <a:xfrm>
            <a:off x="6254496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169164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83096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Planner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reads run logs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overfit gap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strict JSON config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41664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22" name="stage"/>
          <p:cNvSpPr/>
          <p:nvPr/>
        </p:nvSpPr>
        <p:spPr>
          <a:xfrm>
            <a:off x="9107424" y="14630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36024" y="16916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36024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 stream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gauge and reasoning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/ PR trajectory charts</a:t>
            </a:r>
            <a:endParaRPr lang="en-US" sz="1400" dirty="0"/>
          </a:p>
        </p:txBody>
      </p:sp>
      <p:sp>
        <p:nvSpPr>
          <p:cNvPr id="27" name="rule"/>
          <p:cNvSpPr/>
          <p:nvPr/>
        </p:nvSpPr>
        <p:spPr>
          <a:xfrm>
            <a:off x="548640" y="489204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892040"/>
            <a:ext cx="1056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RULE  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sees customer rows. It reasons only over run logs (params, train/val AUC, overfit gap) and emits JSON that Python validates before any fit.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ALGORITHM &amp; MODELS</a:t>
            </a:r>
            <a:endParaRPr lang="en-US" sz="3000" dirty="0"/>
          </a:p>
        </p:txBody>
      </p:sp>
      <p:sp>
        <p:nvSpPr>
          <p:cNvPr id="4" name="models"/>
          <p:cNvSpPr/>
          <p:nvPr/>
        </p:nvSpPr>
        <p:spPr>
          <a:xfrm>
            <a:off x="548640" y="128016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lineup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(run 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8716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Depth-wise boosting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0540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LightGBM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0540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Leaf-wise, fastest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621024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621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CatBoost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6210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</a:t>
            </a:r>
            <a:endParaRPr lang="en-US" sz="1300" dirty="0"/>
          </a:p>
        </p:txBody>
      </p:sp>
      <p:sp>
        <p:nvSpPr>
          <p:cNvPr id="18" name="why"/>
          <p:cNvSpPr/>
          <p:nvPr/>
        </p:nvSpPr>
        <p:spPr>
          <a:xfrm>
            <a:off x="5486400" y="1280160"/>
            <a:ext cx="6172200" cy="3017520"/>
          </a:xfrm>
          <a:prstGeom prst="roundRect">
            <a:avLst>
              <a:gd name="adj" fmla="val 2424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CatBoost wins on Telco data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192024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categorical handling via ordered target statistics, so no target leakage and no one-hot blow-up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(oblivious) trees resist overfitting on 5,634 rows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default accuracy, leaving the 15 runs for tuning, not rescuing</a:t>
            </a:r>
            <a:endParaRPr lang="en-US" sz="1500" dirty="0"/>
          </a:p>
        </p:txBody>
      </p:sp>
      <p:sp>
        <p:nvSpPr>
          <p:cNvPr id="21" name="planner"/>
          <p:cNvSpPr/>
          <p:nvPr/>
        </p:nvSpPr>
        <p:spPr>
          <a:xfrm>
            <a:off x="548640" y="45262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 logic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overfit gap and PR-AUC after each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depth, l2_leaf_reg, scale_pos_weight, learning_rate, rsm</a:t>
            </a:r>
            <a:endParaRPr lang="en-US" sz="1400" dirty="0"/>
          </a:p>
        </p:txBody>
      </p:sp>
      <p:sp>
        <p:nvSpPr>
          <p:cNvPr id="24" name="guard"/>
          <p:cNvSpPr/>
          <p:nvPr/>
        </p:nvSpPr>
        <p:spPr>
          <a:xfrm>
            <a:off x="6172200" y="45262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guardrails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JSON-only output, bounds checked in Python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exec(): the LLM can never trigger extra fits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 HISTORY &amp; SEARCH</a:t>
            </a:r>
            <a:endParaRPr lang="en-US" sz="3000" dirty="0"/>
          </a:p>
        </p:txBody>
      </p:sp>
      <p:sp>
        <p:nvSpPr>
          <p:cNvPr id="4" name="phase"/>
          <p:cNvSpPr/>
          <p:nvPr/>
        </p:nvSpPr>
        <p:spPr>
          <a:xfrm>
            <a:off x="54864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1-4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tournament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LogReg, XGBoost, LightGBM, CatBoost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onto the best family</a:t>
            </a:r>
            <a:endParaRPr lang="en-US" sz="1400" dirty="0"/>
          </a:p>
        </p:txBody>
      </p:sp>
      <p:sp>
        <p:nvSpPr>
          <p:cNvPr id="8" name="phase"/>
          <p:cNvSpPr/>
          <p:nvPr/>
        </p:nvSpPr>
        <p:spPr>
          <a:xfrm>
            <a:off x="429768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5-7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tuning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 about 1.7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4-5, l2_leaf_reg 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0.03</a:t>
            </a:r>
            <a:endParaRPr lang="en-US" sz="1400" dirty="0"/>
          </a:p>
        </p:txBody>
      </p:sp>
      <p:sp>
        <p:nvSpPr>
          <p:cNvPr id="12" name="phase"/>
          <p:cNvSpPr/>
          <p:nvPr/>
        </p:nvSpPr>
        <p:spPr>
          <a:xfrm>
            <a:off x="804672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8-9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 and halt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rsm = 0.75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if gain &lt; 0.001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033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bandit exploration, then guided tuning, then a convergence brake. Early stopping inside each fit replaces separate n_estimators runs.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109960" cy="164592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48640" y="4389120"/>
            <a:ext cx="11109960" cy="1645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YOUR RUN LOG TABLE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| model | params | val ROC-AUC | overfit gap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4" name="metric"/>
          <p:cNvSpPr/>
          <p:nvPr/>
        </p:nvSpPr>
        <p:spPr>
          <a:xfrm>
            <a:off x="548640" y="13258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ROC-AUC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ranking quality across all thresholds.</a:t>
            </a:r>
            <a:endParaRPr lang="en-US" sz="1500" dirty="0"/>
          </a:p>
        </p:txBody>
      </p:sp>
      <p:sp>
        <p:nvSpPr>
          <p:cNvPr id="9" name="metric"/>
          <p:cNvSpPr/>
          <p:nvPr/>
        </p:nvSpPr>
        <p:spPr>
          <a:xfrm>
            <a:off x="4297680" y="13258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0020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PR-AUC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metric: accuracy on the churner minority class.</a:t>
            </a:r>
            <a:endParaRPr lang="en-US" sz="1500" dirty="0"/>
          </a:p>
        </p:txBody>
      </p:sp>
      <p:sp>
        <p:nvSpPr>
          <p:cNvPr id="14" name="metric"/>
          <p:cNvSpPr/>
          <p:nvPr/>
        </p:nvSpPr>
        <p:spPr>
          <a:xfrm>
            <a:off x="8046720" y="13258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002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stratified 80/20 holdout, no k-fold.</a:t>
            </a:r>
            <a:endParaRPr lang="en-US" sz="1500" dirty="0"/>
          </a:p>
        </p:txBody>
      </p:sp>
      <p:sp>
        <p:nvSpPr>
          <p:cNvPr id="19" name="metric"/>
          <p:cNvSpPr/>
          <p:nvPr/>
        </p:nvSpPr>
        <p:spPr>
          <a:xfrm>
            <a:off x="548640" y="37490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Probabilities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predict_proba scores, never 0/1 labels.</a:t>
            </a:r>
            <a:endParaRPr lang="en-US" sz="1500" dirty="0"/>
          </a:p>
        </p:txBody>
      </p:sp>
      <p:sp>
        <p:nvSpPr>
          <p:cNvPr id="24" name="metric"/>
          <p:cNvSpPr/>
          <p:nvPr/>
        </p:nvSpPr>
        <p:spPr>
          <a:xfrm>
            <a:off x="4297680" y="37490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02336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Overfit gap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minus validation AUC, the planner's main signal.</a:t>
            </a:r>
            <a:endParaRPr lang="en-US" sz="1500" dirty="0"/>
          </a:p>
        </p:txBody>
      </p:sp>
      <p:sp>
        <p:nvSpPr>
          <p:cNvPr id="29" name="metric"/>
          <p:cNvSpPr/>
          <p:nvPr/>
        </p:nvSpPr>
        <p:spPr>
          <a:xfrm>
            <a:off x="8046720" y="37490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02336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used out of 15, which feeds the final score.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ROC-AUC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PR-AUC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Handbook target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Logistic Regression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0.80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XGBoost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LightGBM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CatBoost (tuned)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Weighted blend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 to +0.005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B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tat"/>
          <p:cNvSpPr/>
          <p:nvPr/>
        </p:nvSpPr>
        <p:spPr>
          <a:xfrm>
            <a:off x="7589520" y="132588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325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X ] / 15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875520" y="1325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used</a:t>
            </a:r>
            <a:endParaRPr lang="en-US" sz="1400" dirty="0"/>
          </a:p>
        </p:txBody>
      </p:sp>
      <p:sp>
        <p:nvSpPr>
          <p:cNvPr id="8" name="stat"/>
          <p:cNvSpPr/>
          <p:nvPr/>
        </p:nvSpPr>
        <p:spPr>
          <a:xfrm>
            <a:off x="7589520" y="246888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4" name="Text 6"/>
          <p:cNvSpPr txBox="1"/>
          <p:nvPr/>
        </p:nvSpPr>
        <p:spPr>
          <a:xfrm>
            <a:off x="777240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Y ]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2468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saved</a:t>
            </a:r>
            <a:endParaRPr lang="en-US" sz="1400" dirty="0"/>
          </a:p>
        </p:txBody>
      </p:sp>
      <p:sp>
        <p:nvSpPr>
          <p:cNvPr id="11" name="stat"/>
          <p:cNvSpPr/>
          <p:nvPr/>
        </p:nvSpPr>
        <p:spPr>
          <a:xfrm>
            <a:off x="7589520" y="361188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3611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extra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36118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for blending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846320"/>
            <a:ext cx="11109960" cy="128016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48640" y="4846320"/>
            <a:ext cx="11109960" cy="12801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CHART: ROC-AUC and PR-AUC by run, with the convergence-brake line marked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&amp; SAMPLE 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301752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0175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dashboard: budget gauge, reasoning terminal, metric charts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486400" cy="301752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280160"/>
            <a:ext cx="5486400" cy="30175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Hyperparameter table with champion run highlighted</a:t>
            </a:r>
            <a:endParaRPr lang="en-US" sz="1400" dirty="0"/>
          </a:p>
        </p:txBody>
      </p:sp>
      <p:sp>
        <p:nvSpPr>
          <p:cNvPr id="8" name="reasoning"/>
          <p:cNvSpPr/>
          <p:nvPr/>
        </p:nvSpPr>
        <p:spPr>
          <a:xfrm>
            <a:off x="548640" y="4526280"/>
            <a:ext cx="694944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planner reasoning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"Overfit gap is 0.0527. Reducing depth to 5, raising L2 to 9, and setting scale_pos_weight to 1.68 to lift PR-AUC."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0" y="4526280"/>
            <a:ext cx="3977640" cy="1508760"/>
          </a:xfrm>
          <a:prstGeom prst="rect">
            <a:avLst/>
          </a:prstGeom>
          <a:solidFill>
            <a:srgbClr val="FFFFFF">
              <a:alpha val="65000"/>
            </a:srgbClr>
          </a:solidFill>
          <a:ln w="15875">
            <a:solidFill>
              <a:srgbClr val="1D4ED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680960" y="4526280"/>
            <a:ext cx="3977640" cy="15087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PREDICTION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X: [ ]% churn risk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//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LIMITATIONS, FUTURE &amp; CONCLUSION</a:t>
            </a:r>
            <a:endParaRPr lang="en-US" sz="3000" dirty="0"/>
          </a:p>
        </p:txBody>
      </p:sp>
      <p:sp>
        <p:nvSpPr>
          <p:cNvPr id="4" name="limits"/>
          <p:cNvSpPr/>
          <p:nvPr/>
        </p:nvSpPr>
        <p:spPr>
          <a:xfrm>
            <a:off x="548640" y="1280160"/>
            <a:ext cx="3520440" cy="4754880"/>
          </a:xfrm>
          <a:prstGeom prst="roundRect">
            <a:avLst>
              <a:gd name="adj" fmla="val 207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table, no temporal or behavioral signals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validation split gives a noisy estimate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quality depends on LLM reasoning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can trade ROC-AUC for recall</a:t>
            </a:r>
            <a:endParaRPr lang="en-US" sz="1400" dirty="0"/>
          </a:p>
        </p:txBody>
      </p:sp>
      <p:sp>
        <p:nvSpPr>
          <p:cNvPr id="7" name="future"/>
          <p:cNvSpPr/>
          <p:nvPr/>
        </p:nvSpPr>
        <p:spPr>
          <a:xfrm>
            <a:off x="4251960" y="1280160"/>
            <a:ext cx="3520440" cy="4754880"/>
          </a:xfrm>
          <a:prstGeom prst="roundRect">
            <a:avLst>
              <a:gd name="adj" fmla="val 207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FCBB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01168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decision thresholds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behavior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for each churn score</a:t>
            </a:r>
            <a:endParaRPr lang="en-US" sz="1400" dirty="0"/>
          </a:p>
        </p:txBody>
      </p:sp>
      <p:sp>
        <p:nvSpPr>
          <p:cNvPr id="10" name="conclusion"/>
          <p:cNvSpPr/>
          <p:nvPr/>
        </p:nvSpPr>
        <p:spPr>
          <a:xfrm>
            <a:off x="7955280" y="1280160"/>
            <a:ext cx="3703320" cy="4754880"/>
          </a:xfrm>
          <a:prstGeom prst="roundRect">
            <a:avLst>
              <a:gd name="adj" fmla="val 197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0116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LLM-guided tuning with hard budget guardrails reaches strong ROC-AUC in fewer experiments, and every decision is logged and auditable.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QUANTA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934</Words>
  <Application>Microsoft Office PowerPoint</Application>
  <PresentationFormat>Widescreen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QUANTA - Autonomous AI Data Scientist</dc:title>
  <dc:subject>PptxGenJS Presentation</dc:subject>
  <dc:creator>QUANTA</dc:creator>
  <cp:lastModifiedBy>Jayavardhan Gandrotula</cp:lastModifiedBy>
  <cp:revision>1</cp:revision>
  <dcterms:created xsi:type="dcterms:W3CDTF">2026-10-26T17:56:36Z</dcterms:created>
  <dcterms:modified xsi:type="dcterms:W3CDTF">2026-10-26T18:01:15Z</dcterms:modified>
</cp:coreProperties>
</file>