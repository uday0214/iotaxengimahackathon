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9791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NTA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QUANTA  //  CHALLENGE 1  //  CHURN OPTIMIZATION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AUTONOMOUS AI DATA SCIENTIST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QUANTA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Budget-Constrained Churn Optimization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918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planner tunes a CatBoost churn model in 15 experiments or fewer, and stops on its own once accuracy plateaus.</a:t>
            </a:r>
            <a:endParaRPr lang="en-US" sz="1800" dirty="0"/>
          </a:p>
        </p:txBody>
      </p:sp>
      <p:sp>
        <p:nvSpPr>
          <p:cNvPr id="6" name="member"/>
          <p:cNvSpPr/>
          <p:nvPr/>
        </p:nvSpPr>
        <p:spPr>
          <a:xfrm>
            <a:off x="73152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Ishitwa</a:t>
            </a:r>
            <a:endParaRPr lang="en-US" sz="1600" dirty="0"/>
          </a:p>
        </p:txBody>
      </p:sp>
      <p:sp>
        <p:nvSpPr>
          <p:cNvPr id="8" name="member"/>
          <p:cNvSpPr/>
          <p:nvPr/>
        </p:nvSpPr>
        <p:spPr>
          <a:xfrm>
            <a:off x="288036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036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Uday</a:t>
            </a:r>
            <a:endParaRPr lang="en-US" sz="1600" dirty="0"/>
          </a:p>
        </p:txBody>
      </p:sp>
      <p:sp>
        <p:nvSpPr>
          <p:cNvPr id="10" name="member"/>
          <p:cNvSpPr/>
          <p:nvPr/>
        </p:nvSpPr>
        <p:spPr>
          <a:xfrm>
            <a:off x="502920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Avikshith</a:t>
            </a:r>
            <a:endParaRPr lang="en-US" sz="1600" dirty="0"/>
          </a:p>
        </p:txBody>
      </p:sp>
      <p:sp>
        <p:nvSpPr>
          <p:cNvPr id="12" name="member"/>
          <p:cNvSpPr/>
          <p:nvPr/>
        </p:nvSpPr>
        <p:spPr>
          <a:xfrm>
            <a:off x="717804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7804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Jayavardhan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315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MEMBERS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577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TRACK: CHALLENGE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&amp; MOTIVATION</a:t>
            </a:r>
            <a:endParaRPr lang="en-US" sz="3000" dirty="0"/>
          </a:p>
        </p:txBody>
      </p:sp>
      <p:sp>
        <p:nvSpPr>
          <p:cNvPr id="4" name="stat"/>
          <p:cNvSpPr/>
          <p:nvPr/>
        </p:nvSpPr>
        <p:spPr>
          <a:xfrm>
            <a:off x="548640" y="12801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7,043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customers to score</a:t>
            </a:r>
            <a:endParaRPr lang="en-US" sz="1600" dirty="0"/>
          </a:p>
        </p:txBody>
      </p:sp>
      <p:sp>
        <p:nvSpPr>
          <p:cNvPr id="7" name="stat"/>
          <p:cNvSpPr/>
          <p:nvPr/>
        </p:nvSpPr>
        <p:spPr>
          <a:xfrm>
            <a:off x="4297680" y="12801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1371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≤ 15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240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fit-and-validate experiments</a:t>
            </a:r>
            <a:endParaRPr lang="en-US" sz="1600" dirty="0"/>
          </a:p>
        </p:txBody>
      </p:sp>
      <p:sp>
        <p:nvSpPr>
          <p:cNvPr id="10" name="stat"/>
          <p:cNvSpPr/>
          <p:nvPr/>
        </p:nvSpPr>
        <p:spPr>
          <a:xfrm>
            <a:off x="8046720" y="12801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371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 × Eff.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240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score formula</a:t>
            </a:r>
            <a:endParaRPr lang="en-US" sz="1600" dirty="0"/>
          </a:p>
        </p:txBody>
      </p:sp>
      <p:sp>
        <p:nvSpPr>
          <p:cNvPr id="13" name="cost"/>
          <p:cNvSpPr/>
          <p:nvPr/>
        </p:nvSpPr>
        <p:spPr>
          <a:xfrm>
            <a:off x="548640" y="3108960"/>
            <a:ext cx="5486400" cy="2926080"/>
          </a:xfrm>
          <a:prstGeom prst="roundRect">
            <a:avLst>
              <a:gd name="adj" fmla="val 2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291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cost of being wrong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churner (false negative): recurring revenue is lost without warning.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 (false positive): a retention offer is wasted on a happy customer.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rank customers by churn risk so offers reach the right people.</a:t>
            </a:r>
            <a:endParaRPr lang="en-US" sz="1500" dirty="0"/>
          </a:p>
        </p:txBody>
      </p:sp>
      <p:sp>
        <p:nvSpPr>
          <p:cNvPr id="16" name="constraint"/>
          <p:cNvSpPr/>
          <p:nvPr/>
        </p:nvSpPr>
        <p:spPr>
          <a:xfrm>
            <a:off x="6217920" y="3108960"/>
            <a:ext cx="5440680" cy="2926080"/>
          </a:xfrm>
          <a:prstGeom prst="roundRect">
            <a:avLst>
              <a:gd name="adj" fmla="val 2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3291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constraint that shapes everything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grid search over 5 hyperparameters needs 1,000+ training runs.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get 15 runs, so every experiment must be chosen using feedback from the last.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runs used means a higher efficiency factor and a better score.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&amp; PREPROCESSING</a:t>
            </a:r>
            <a:endParaRPr lang="en-US" sz="3000" dirty="0"/>
          </a:p>
        </p:txBody>
      </p:sp>
      <p:sp>
        <p:nvSpPr>
          <p:cNvPr id="4" name="imbalance"/>
          <p:cNvSpPr/>
          <p:nvPr/>
        </p:nvSpPr>
        <p:spPr>
          <a:xfrm>
            <a:off x="548640" y="128016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IBM Telco churn: 7,043 rows, 21 columns (16 categorical)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776257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85530" y="1920240"/>
            <a:ext cx="2798750" cy="5029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77625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STAY  73.5%  (5,174)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85530" y="1920240"/>
            <a:ext cx="27987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CHURN 26.5%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505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 about 2.77 : 1, which is why PR-AUC is tracked alongside ROC-AUC</a:t>
            </a:r>
            <a:endParaRPr lang="en-US" sz="1300" dirty="0"/>
          </a:p>
        </p:txBody>
      </p:sp>
      <p:sp>
        <p:nvSpPr>
          <p:cNvPr id="11" name="prep"/>
          <p:cNvSpPr/>
          <p:nvPr/>
        </p:nvSpPr>
        <p:spPr>
          <a:xfrm>
            <a:off x="548640" y="29718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81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474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stratified: 5,634 train / 1,409 validation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ratio preserved in both sets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k-fold, to protect the run budget</a:t>
            </a:r>
            <a:endParaRPr lang="en-US" sz="1300" dirty="0"/>
          </a:p>
        </p:txBody>
      </p:sp>
      <p:sp>
        <p:nvSpPr>
          <p:cNvPr id="14" name="prep"/>
          <p:cNvSpPr/>
          <p:nvPr/>
        </p:nvSpPr>
        <p:spPr>
          <a:xfrm>
            <a:off x="6172200" y="29718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3081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474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TotalCharges (tenure = 0) coerced and imputed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happens before run 1 and costs 0 experiments</a:t>
            </a:r>
            <a:endParaRPr lang="en-US" sz="1300" dirty="0"/>
          </a:p>
        </p:txBody>
      </p:sp>
      <p:sp>
        <p:nvSpPr>
          <p:cNvPr id="17" name="prep"/>
          <p:cNvSpPr/>
          <p:nvPr/>
        </p:nvSpPr>
        <p:spPr>
          <a:xfrm>
            <a:off x="54864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6817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Surge Ratio: sudden bill increases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Lock-In Index: count of active add-ons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Contract Flag: month-to-month + e-check</a:t>
            </a:r>
            <a:endParaRPr lang="en-US" sz="1300" dirty="0"/>
          </a:p>
        </p:txBody>
      </p:sp>
      <p:sp>
        <p:nvSpPr>
          <p:cNvPr id="20" name="prep"/>
          <p:cNvSpPr/>
          <p:nvPr/>
        </p:nvSpPr>
        <p:spPr>
          <a:xfrm>
            <a:off x="617220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46817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filtering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5074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Information scores, which are model-free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Low-signal columns dropped at no experiment cost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DESIGN &amp; PIPELINE</a:t>
            </a:r>
            <a:endParaRPr lang="en-US" sz="3000" dirty="0"/>
          </a:p>
        </p:txBody>
      </p:sp>
      <p:sp>
        <p:nvSpPr>
          <p:cNvPr id="4" name="stage"/>
          <p:cNvSpPr/>
          <p:nvPr/>
        </p:nvSpPr>
        <p:spPr>
          <a:xfrm>
            <a:off x="548640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 Pre-Processor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7,043-row CSV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and engineer features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0 / 15 runs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35808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000" dirty="0"/>
          </a:p>
        </p:txBody>
      </p:sp>
      <p:sp>
        <p:nvSpPr>
          <p:cNvPr id="10" name="stage"/>
          <p:cNvSpPr/>
          <p:nvPr/>
        </p:nvSpPr>
        <p:spPr>
          <a:xfrm>
            <a:off x="3401568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0168" y="169164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016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Controller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runs ≤ 15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fit + predict_proba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ROC &amp; PR-AUC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000" dirty="0"/>
          </a:p>
        </p:txBody>
      </p:sp>
      <p:sp>
        <p:nvSpPr>
          <p:cNvPr id="16" name="stage"/>
          <p:cNvSpPr/>
          <p:nvPr/>
        </p:nvSpPr>
        <p:spPr>
          <a:xfrm>
            <a:off x="6254496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83096" y="1691640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83096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Planner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83096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reads run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 overfit gap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strict JSON config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741664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000" dirty="0"/>
          </a:p>
        </p:txBody>
      </p:sp>
      <p:sp>
        <p:nvSpPr>
          <p:cNvPr id="22" name="stage"/>
          <p:cNvSpPr/>
          <p:nvPr/>
        </p:nvSpPr>
        <p:spPr>
          <a:xfrm>
            <a:off x="9107424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36024" y="169164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36024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336024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Dashboard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336024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event stream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gauge and reasoning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/ PR trajectory charts</a:t>
            </a:r>
            <a:endParaRPr lang="en-US" sz="1400" dirty="0"/>
          </a:p>
        </p:txBody>
      </p:sp>
      <p:sp>
        <p:nvSpPr>
          <p:cNvPr id="27" name="rule"/>
          <p:cNvSpPr/>
          <p:nvPr/>
        </p:nvSpPr>
        <p:spPr>
          <a:xfrm>
            <a:off x="548640" y="489204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892040"/>
            <a:ext cx="10561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RULE  </a:t>
            </a: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sees customer rows. It reasons only over run logs (params, train/val AUC, overfit gap) and emits JSON that Python validates before any fit.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ALGORITHM &amp; MODELS</a:t>
            </a:r>
            <a:endParaRPr lang="en-US" sz="3000" dirty="0"/>
          </a:p>
        </p:txBody>
      </p:sp>
      <p:sp>
        <p:nvSpPr>
          <p:cNvPr id="4" name="models"/>
          <p:cNvSpPr/>
          <p:nvPr/>
        </p:nvSpPr>
        <p:spPr>
          <a:xfrm>
            <a:off x="548640" y="1280160"/>
            <a:ext cx="4754880" cy="3017520"/>
          </a:xfrm>
          <a:prstGeom prst="roundRect">
            <a:avLst>
              <a:gd name="adj" fmla="val 242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lineup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 Regression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 (run 1)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487168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48716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XGBoost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Depth-wise boosting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0540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3054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Leaf-wise, fastest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621024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36210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CatBoost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46120" y="3621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model</a:t>
            </a:r>
            <a:endParaRPr lang="en-US" sz="1300" dirty="0"/>
          </a:p>
        </p:txBody>
      </p:sp>
      <p:sp>
        <p:nvSpPr>
          <p:cNvPr id="18" name="why"/>
          <p:cNvSpPr/>
          <p:nvPr/>
        </p:nvSpPr>
        <p:spPr>
          <a:xfrm>
            <a:off x="5486400" y="1280160"/>
            <a:ext cx="6172200" cy="3017520"/>
          </a:xfrm>
          <a:prstGeom prst="roundRect">
            <a:avLst>
              <a:gd name="adj" fmla="val 242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14173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CatBoost wins on Telco data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192024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categorical handling via ordered target statistics, so no target leakage and no one-hot blow-up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(oblivious) trees resist overfitting on 5,634 rows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default accuracy, leaving the 15 runs for tuning, not rescuing</a:t>
            </a:r>
            <a:endParaRPr lang="en-US" sz="1500" dirty="0"/>
          </a:p>
        </p:txBody>
      </p:sp>
      <p:sp>
        <p:nvSpPr>
          <p:cNvPr id="21" name="planner"/>
          <p:cNvSpPr/>
          <p:nvPr/>
        </p:nvSpPr>
        <p:spPr>
          <a:xfrm>
            <a:off x="54864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logic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overfit gap and PR-AUC after each run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Adjusts depth, l2_leaf_reg, scale_pos_weight, learning_rate, rsm</a:t>
            </a:r>
            <a:endParaRPr lang="en-US" sz="1400" dirty="0"/>
          </a:p>
        </p:txBody>
      </p:sp>
      <p:sp>
        <p:nvSpPr>
          <p:cNvPr id="24" name="guard"/>
          <p:cNvSpPr/>
          <p:nvPr/>
        </p:nvSpPr>
        <p:spPr>
          <a:xfrm>
            <a:off x="617220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 guardrails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JSON-only output, bounds checked in Python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exec(): the LLM can never trigger extra fits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 HISTORY &amp; SEARCH</a:t>
            </a:r>
            <a:endParaRPr lang="en-US" sz="3000" dirty="0"/>
          </a:p>
        </p:txBody>
      </p:sp>
      <p:sp>
        <p:nvSpPr>
          <p:cNvPr id="4" name="phase"/>
          <p:cNvSpPr/>
          <p:nvPr/>
        </p:nvSpPr>
        <p:spPr>
          <a:xfrm>
            <a:off x="548640" y="128016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1-4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tournament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LogReg, XGBoost, LightGBM, CatBoost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onto the best family</a:t>
            </a:r>
            <a:endParaRPr lang="en-US" sz="1400" dirty="0"/>
          </a:p>
        </p:txBody>
      </p:sp>
      <p:sp>
        <p:nvSpPr>
          <p:cNvPr id="8" name="phase"/>
          <p:cNvSpPr/>
          <p:nvPr/>
        </p:nvSpPr>
        <p:spPr>
          <a:xfrm>
            <a:off x="4297680" y="128016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5-7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 tuning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 about 1.7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4-5, l2_leaf_reg 8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 0.03</a:t>
            </a:r>
            <a:endParaRPr lang="en-US" sz="1400" dirty="0"/>
          </a:p>
        </p:txBody>
      </p:sp>
      <p:sp>
        <p:nvSpPr>
          <p:cNvPr id="12" name="phase"/>
          <p:cNvSpPr/>
          <p:nvPr/>
        </p:nvSpPr>
        <p:spPr>
          <a:xfrm>
            <a:off x="8046720" y="128016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2104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8-9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Refine and halt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rsm = 0.75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if gain &lt; 0.001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7033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bandit exploration, then guided tuning, then a convergence brake. Early stopping inside each fit replaces separate n_estimators runs.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1109960" cy="164592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48640" y="4389120"/>
            <a:ext cx="11109960" cy="16459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4370832"/>
          <a:ext cx="111099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468880"/>
                <a:gridCol w="4343400"/>
                <a:gridCol w="1645920"/>
                <a:gridCol w="1645920"/>
              </a:tblGrid>
              <a:tr h="24166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Model Family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Key Parameters &amp; Regularization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Val ROC-AUC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Overfit Gap (Ω)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CatBoost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Depth 7, L2 3.42, LR 0.046, Trees 1000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0.84974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11.27%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Depth 5, L2 2.20, LR 0.043, Histogram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0.84845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Depth 5, L2 3.85, LR 0.053, Subsample 0.93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0.84879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19.92%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L-BFGS, L2 Penalty, C=1.0, Standardized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0.84681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8.33%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CatBoost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Depth 5, L2 5.04, LR 0.033, Subsample 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0.85027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7.46%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Run 12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CatBoost (Champion ★)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Depth 5, L2 11.72, LR 0.020, Balanced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0.85058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6.88% (Holdout: 0.8443)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 METHODOLOGY</a:t>
            </a:r>
            <a:endParaRPr lang="en-US" sz="3000" dirty="0"/>
          </a:p>
        </p:txBody>
      </p:sp>
      <p:sp>
        <p:nvSpPr>
          <p:cNvPr id="4" name="metric"/>
          <p:cNvSpPr/>
          <p:nvPr/>
        </p:nvSpPr>
        <p:spPr>
          <a:xfrm>
            <a:off x="548640" y="13258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0020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ROC-AUC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metric: ranking quality across all thresholds.</a:t>
            </a:r>
            <a:endParaRPr lang="en-US" sz="1500" dirty="0"/>
          </a:p>
        </p:txBody>
      </p:sp>
      <p:sp>
        <p:nvSpPr>
          <p:cNvPr id="9" name="metric"/>
          <p:cNvSpPr/>
          <p:nvPr/>
        </p:nvSpPr>
        <p:spPr>
          <a:xfrm>
            <a:off x="4297680" y="13258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60020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PR-AUC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metric: accuracy on the churner minority class.</a:t>
            </a:r>
            <a:endParaRPr lang="en-US" sz="1500" dirty="0"/>
          </a:p>
        </p:txBody>
      </p:sp>
      <p:sp>
        <p:nvSpPr>
          <p:cNvPr id="14" name="metric"/>
          <p:cNvSpPr/>
          <p:nvPr/>
        </p:nvSpPr>
        <p:spPr>
          <a:xfrm>
            <a:off x="8046720" y="13258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600200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stratified 80/20 holdout, no k-fold.</a:t>
            </a:r>
            <a:endParaRPr lang="en-US" sz="1500" dirty="0"/>
          </a:p>
        </p:txBody>
      </p:sp>
      <p:sp>
        <p:nvSpPr>
          <p:cNvPr id="19" name="metric"/>
          <p:cNvSpPr/>
          <p:nvPr/>
        </p:nvSpPr>
        <p:spPr>
          <a:xfrm>
            <a:off x="548640" y="37490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02336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Probabilities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predict_proba scores, never 0/1 labels.</a:t>
            </a:r>
            <a:endParaRPr lang="en-US" sz="1500" dirty="0"/>
          </a:p>
        </p:txBody>
      </p:sp>
      <p:sp>
        <p:nvSpPr>
          <p:cNvPr id="24" name="metric"/>
          <p:cNvSpPr/>
          <p:nvPr/>
        </p:nvSpPr>
        <p:spPr>
          <a:xfrm>
            <a:off x="4297680" y="37490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02336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Overfit gap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AUC minus validation AUC, the planner's main signal.</a:t>
            </a:r>
            <a:endParaRPr lang="en-US" sz="1500" dirty="0"/>
          </a:p>
        </p:txBody>
      </p:sp>
      <p:sp>
        <p:nvSpPr>
          <p:cNvPr id="29" name="metric"/>
          <p:cNvSpPr/>
          <p:nvPr/>
        </p:nvSpPr>
        <p:spPr>
          <a:xfrm>
            <a:off x="8046720" y="37490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4023360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Efficiency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used out of 15, which feeds the final score.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32918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ROC-AUC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PR-AUC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Handbook target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Logistic Regression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t>0.8468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t>0.6603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0.80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XGBoost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t>0.8488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t>0.6630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LightGBM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t>0.8485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t>0.6627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  <a:defRPr sz="1100" b="1">
                          <a:solidFill>
                            <a:srgbClr val="0F766E"/>
                          </a:solidFill>
                        </a:defRPr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CatBoost (tuned)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766E"/>
                          </a:solidFill>
                        </a:defRPr>
                      </a:pPr>
                      <a:r>
                        <a:t>0.8506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766E"/>
                          </a:solidFill>
                        </a:defRPr>
                      </a:pPr>
                      <a:r>
                        <a:t>0.6645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 sz="1100" b="1">
                          <a:solidFill>
                            <a:srgbClr val="0F766E"/>
                          </a:solidFill>
                        </a:defRPr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0.85+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Weighted blend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t>0.8506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t>0.6660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  <a:defRPr sz="1100">
                          <a:solidFill>
                            <a:srgbClr val="0B1F3A"/>
                          </a:solidFill>
                        </a:defRPr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 to +0.005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tat"/>
          <p:cNvSpPr/>
          <p:nvPr/>
        </p:nvSpPr>
        <p:spPr>
          <a:xfrm>
            <a:off x="7589520" y="132588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772400" y="1325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2800" b="1">
                <a:solidFill>
                  <a:srgbClr val="0F766E"/>
                </a:solidFill>
              </a:defRPr>
            </a:pPr>
            <a:r>
              <a:t>15 / 15</a:t>
            </a:r>
          </a:p>
        </p:txBody>
      </p:sp>
      <p:sp>
        <p:nvSpPr>
          <p:cNvPr id="7" name="Text 4"/>
          <p:cNvSpPr txBox="1"/>
          <p:nvPr/>
        </p:nvSpPr>
        <p:spPr>
          <a:xfrm>
            <a:off x="9875520" y="13258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used</a:t>
            </a:r>
            <a:endParaRPr lang="en-US" sz="1400" dirty="0"/>
          </a:p>
        </p:txBody>
      </p:sp>
      <p:sp>
        <p:nvSpPr>
          <p:cNvPr id="8" name="stat"/>
          <p:cNvSpPr/>
          <p:nvPr/>
        </p:nvSpPr>
        <p:spPr>
          <a:xfrm>
            <a:off x="7589520" y="246888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4" name="Text 6"/>
          <p:cNvSpPr txBox="1"/>
          <p:nvPr/>
        </p:nvSpPr>
        <p:spPr>
          <a:xfrm>
            <a:off x="7772400" y="2468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2400" b="1">
                <a:solidFill>
                  <a:srgbClr val="B45309"/>
                </a:solidFill>
              </a:defRPr>
            </a:pPr>
            <a:r>
              <a:t>Optimal</a:t>
            </a:r>
          </a:p>
        </p:txBody>
      </p:sp>
      <p:sp>
        <p:nvSpPr>
          <p:cNvPr id="10" name="Text 7"/>
          <p:cNvSpPr txBox="1"/>
          <p:nvPr/>
        </p:nvSpPr>
        <p:spPr>
          <a:xfrm>
            <a:off x="9875520" y="24688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saved</a:t>
            </a:r>
            <a:endParaRPr lang="en-US" sz="1400" dirty="0"/>
          </a:p>
        </p:txBody>
      </p:sp>
      <p:sp>
        <p:nvSpPr>
          <p:cNvPr id="11" name="stat"/>
          <p:cNvSpPr/>
          <p:nvPr/>
        </p:nvSpPr>
        <p:spPr>
          <a:xfrm>
            <a:off x="7589520" y="361188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772400" y="3611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extra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0" y="36118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for blending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846320"/>
            <a:ext cx="11109960" cy="128016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48640" y="4846320"/>
            <a:ext cx="11109960" cy="12801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26" name="Picture 25" descr="chart_trajec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46320"/>
            <a:ext cx="111099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&amp; SAMPLE OUTPUTS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86400" cy="301752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5486400" cy="30175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/>
        </p:txBody>
      </p:sp>
      <p:sp>
        <p:nvSpPr>
          <p:cNvPr id="6" name="Shape 4"/>
          <p:cNvSpPr/>
          <p:nvPr/>
        </p:nvSpPr>
        <p:spPr>
          <a:xfrm>
            <a:off x="6172200" y="1280160"/>
            <a:ext cx="5486400" cy="301752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172200" y="1280160"/>
            <a:ext cx="5486400" cy="30175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/>
        </p:txBody>
      </p:sp>
      <p:sp>
        <p:nvSpPr>
          <p:cNvPr id="8" name="reasoning"/>
          <p:cNvSpPr/>
          <p:nvPr/>
        </p:nvSpPr>
        <p:spPr>
          <a:xfrm>
            <a:off x="548640" y="4526280"/>
            <a:ext cx="694944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22960" y="4617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 planner reasoning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029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1050" i="1">
                <a:solidFill>
                  <a:srgbClr val="0F766E"/>
                </a:solidFill>
              </a:defRPr>
            </a:pPr>
            <a:r>
              <a:t>"Generalization gap prioritized: pruned tree depth to 5 and scaled L2 regularization to 11.72 with balanced class weights. Overfitting index dropped by 38.9% (11.27% -&gt; 6.88%), securing Champion Model #12 with 0.8506 Val ROC-AUC and 0.8443 Holdout ROC-AUC."</a:t>
            </a:r>
          </a:p>
        </p:txBody>
      </p:sp>
      <p:sp>
        <p:nvSpPr>
          <p:cNvPr id="11" name="Shape 9"/>
          <p:cNvSpPr/>
          <p:nvPr/>
        </p:nvSpPr>
        <p:spPr>
          <a:xfrm>
            <a:off x="7680960" y="4526280"/>
            <a:ext cx="3977640" cy="150876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680960" y="4526280"/>
            <a:ext cx="3977640" cy="15087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 algn="ctr">
              <a:buNone/>
              <a:defRPr b="1" sz="1000">
                <a:solidFill>
                  <a:srgbClr val="0B1F3A"/>
                </a:solidFill>
              </a:defRPr>
            </a:pPr>
            <a:r>
              <a:t>SAMPLE PREDICTIONS (SEALED HOLDOUT)</a:t>
            </a:r>
            <a:endParaRPr lang="en-US" sz="1400" dirty="0"/>
          </a:p>
          <a:p>
            <a:pPr>
              <a:defRPr sz="950" b="1">
                <a:solidFill>
                  <a:srgbClr val="DC2626"/>
                </a:solidFill>
              </a:defRPr>
            </a:pPr>
            <a:r>
              <a:t>• CUST_00001: 89.3% churn risk [HIGH HAZARD]</a:t>
            </a:r>
          </a:p>
          <a:p>
            <a:pPr>
              <a:defRPr sz="950" b="1">
                <a:solidFill>
                  <a:srgbClr val="0F766E"/>
                </a:solidFill>
              </a:defRPr>
            </a:pPr>
            <a:r>
              <a:t>• CUST_00004: 1.8% churn risk [LOYAL / STABLE]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26" name="Picture 25" descr="dashboard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486400" cy="3017520"/>
          </a:xfrm>
          <a:prstGeom prst="rect">
            <a:avLst/>
          </a:prstGeom>
        </p:spPr>
      </p:pic>
      <p:pic>
        <p:nvPicPr>
          <p:cNvPr id="27" name="Picture 26" descr="hyperparameters_p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80160"/>
            <a:ext cx="548640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LIMITATIONS, FUTURE &amp; CONCLUSION</a:t>
            </a:r>
            <a:endParaRPr lang="en-US" sz="3000" dirty="0"/>
          </a:p>
        </p:txBody>
      </p:sp>
      <p:sp>
        <p:nvSpPr>
          <p:cNvPr id="4" name="limits"/>
          <p:cNvSpPr/>
          <p:nvPr/>
        </p:nvSpPr>
        <p:spPr>
          <a:xfrm>
            <a:off x="548640" y="1280160"/>
            <a:ext cx="3520440" cy="4754880"/>
          </a:xfrm>
          <a:prstGeom prst="roundRect">
            <a:avLst>
              <a:gd name="adj" fmla="val 207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table, no temporal or behavioral signals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validation split gives a noisy estimate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quality depends on LLM reasoning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 can trade ROC-AUC for recall</a:t>
            </a:r>
            <a:endParaRPr lang="en-US" sz="1400" dirty="0"/>
          </a:p>
        </p:txBody>
      </p:sp>
      <p:sp>
        <p:nvSpPr>
          <p:cNvPr id="7" name="future"/>
          <p:cNvSpPr/>
          <p:nvPr/>
        </p:nvSpPr>
        <p:spPr>
          <a:xfrm>
            <a:off x="4251960" y="1280160"/>
            <a:ext cx="3520440" cy="4754880"/>
          </a:xfrm>
          <a:prstGeom prst="roundRect">
            <a:avLst>
              <a:gd name="adj" fmla="val 207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1168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calibration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Cost-sensitive decision thresholds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behavior features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for each churn score</a:t>
            </a:r>
            <a:endParaRPr lang="en-US" sz="1400" dirty="0"/>
          </a:p>
        </p:txBody>
      </p:sp>
      <p:sp>
        <p:nvSpPr>
          <p:cNvPr id="10" name="conclusion"/>
          <p:cNvSpPr/>
          <p:nvPr/>
        </p:nvSpPr>
        <p:spPr>
          <a:xfrm>
            <a:off x="7955280" y="1280160"/>
            <a:ext cx="3703320" cy="4754880"/>
          </a:xfrm>
          <a:prstGeom prst="roundRect">
            <a:avLst>
              <a:gd name="adj" fmla="val 197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20116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LLM-guided tuning with hard budget guardrails reaches strong ROC-AUC in fewer experiments, and every decision is logged and auditable.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5212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QUANTA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934</Words>
  <Application>Microsoft Office PowerPoint</Application>
  <PresentationFormat>Widescreen</PresentationFormat>
  <Paragraphs>209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QUANTA - Autonomous AI Data Scientist</dc:title>
  <dc:subject>PptxGenJS Presentation</dc:subject>
  <dc:creator>QUANTA</dc:creator>
  <cp:lastModifiedBy>Jayavardhan Gandrotula</cp:lastModifiedBy>
  <cp:revision>1</cp:revision>
  <dcterms:created xsi:type="dcterms:W3CDTF">2026-10-26T17:56:36Z</dcterms:created>
  <dcterms:modified xsi:type="dcterms:W3CDTF">2026-10-26T18:01:15Z</dcterms:modified>
</cp:coreProperties>
</file>