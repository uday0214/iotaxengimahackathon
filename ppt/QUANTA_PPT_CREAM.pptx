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79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bg>
    <p:bgPr>
      <a:solidFill>
        <a:srgbClr val="F8F5EE"/>
      </a:solidFill>
      <a:effectLst/>
    </p:bgPr>
  </p:bg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bg>
    <p:bgPr>
      <a:solidFill>
        <a:srgbClr val="F8F5EE"/>
      </a:solidFill>
      <a:effectLst/>
    </p:bgPr>
  </p:bg>
  <p:cSld name="QUANTA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QUANTA  //  CHALLENGE 1  //  CHURN OPTIMIZATION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8F5EE"/>
      </a:solidFill>
      <a:effectLst/>
    </p:bgPr>
  </p:bg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8F5EE"/>
      </a:solidFill>
      <a:effectLst/>
    </p:bgPr>
  </p:bg>
  <p:cSld name="Slide 1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AI DATA SCIENTIST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QUANTA</a:t>
            </a:r>
            <a:endParaRPr lang="en-US" sz="8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Budget-Constrained Churn Optimization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planner tunes a CatBoost churn model in 15 experiments or fewer, and stops on its own once accuracy plateaus.</a:t>
            </a:r>
            <a:endParaRPr lang="en-US" sz="1800" dirty="0"/>
          </a:p>
        </p:txBody>
      </p:sp>
      <p:sp>
        <p:nvSpPr>
          <p:cNvPr id="6" name="member"/>
          <p:cNvSpPr/>
          <p:nvPr/>
        </p:nvSpPr>
        <p:spPr>
          <a:xfrm>
            <a:off x="73152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Ishitwa</a:t>
            </a:r>
            <a:endParaRPr lang="en-US" sz="1600" dirty="0"/>
          </a:p>
        </p:txBody>
      </p:sp>
      <p:sp>
        <p:nvSpPr>
          <p:cNvPr id="8" name="member"/>
          <p:cNvSpPr/>
          <p:nvPr/>
        </p:nvSpPr>
        <p:spPr>
          <a:xfrm>
            <a:off x="288036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036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Uday</a:t>
            </a:r>
            <a:endParaRPr lang="en-US" sz="1600" dirty="0"/>
          </a:p>
        </p:txBody>
      </p:sp>
      <p:sp>
        <p:nvSpPr>
          <p:cNvPr id="10" name="member"/>
          <p:cNvSpPr/>
          <p:nvPr/>
        </p:nvSpPr>
        <p:spPr>
          <a:xfrm>
            <a:off x="502920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Avikshith</a:t>
            </a:r>
            <a:endParaRPr lang="en-US" sz="1600" dirty="0"/>
          </a:p>
        </p:txBody>
      </p:sp>
      <p:sp>
        <p:nvSpPr>
          <p:cNvPr id="12" name="member"/>
          <p:cNvSpPr/>
          <p:nvPr/>
        </p:nvSpPr>
        <p:spPr>
          <a:xfrm>
            <a:off x="717804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7804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Jayavardhan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577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TRACK: CHALLENGE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8F5EE"/>
      </a:solidFill>
      <a:effectLst/>
    </p:bgPr>
  </p:bg>
  <p:cSld name="Slide 2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stat"/>
          <p:cNvSpPr/>
          <p:nvPr/>
        </p:nvSpPr>
        <p:spPr>
          <a:xfrm>
            <a:off x="54864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7,043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customers to score</a:t>
            </a:r>
            <a:endParaRPr lang="en-US" sz="1600" dirty="0"/>
          </a:p>
        </p:txBody>
      </p:sp>
      <p:sp>
        <p:nvSpPr>
          <p:cNvPr id="7" name="stat"/>
          <p:cNvSpPr/>
          <p:nvPr/>
        </p:nvSpPr>
        <p:spPr>
          <a:xfrm>
            <a:off x="429768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371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15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fit-and-validate experiments</a:t>
            </a:r>
            <a:endParaRPr lang="en-US" sz="1600" dirty="0"/>
          </a:p>
        </p:txBody>
      </p:sp>
      <p:sp>
        <p:nvSpPr>
          <p:cNvPr id="10" name="stat"/>
          <p:cNvSpPr/>
          <p:nvPr/>
        </p:nvSpPr>
        <p:spPr>
          <a:xfrm>
            <a:off x="804672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1371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× Eff.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score formula</a:t>
            </a:r>
            <a:endParaRPr lang="en-US" sz="1600" dirty="0"/>
          </a:p>
        </p:txBody>
      </p:sp>
      <p:sp>
        <p:nvSpPr>
          <p:cNvPr id="13" name="cost"/>
          <p:cNvSpPr/>
          <p:nvPr/>
        </p:nvSpPr>
        <p:spPr>
          <a:xfrm>
            <a:off x="548640" y="310896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cost of being wrong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churner (false negative): recurring revenue is lost without warning.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(false positive): a retention offer is wasted on a happy customer.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rank customers by churn risk so offers reach the right people.</a:t>
            </a:r>
            <a:endParaRPr lang="en-US" sz="1500" dirty="0"/>
          </a:p>
        </p:txBody>
      </p:sp>
      <p:sp>
        <p:nvSpPr>
          <p:cNvPr id="16" name="constraint"/>
          <p:cNvSpPr/>
          <p:nvPr/>
        </p:nvSpPr>
        <p:spPr>
          <a:xfrm>
            <a:off x="6217920" y="310896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constraint that shapes everything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search over 5 hyperparameters needs 1,000+ training runs.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get 15 runs, so every experiment must be chosen using feedback from the last.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runs used means a higher efficiency factor and a better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8F5EE"/>
      </a:solidFill>
      <a:effectLst/>
    </p:bgPr>
  </p:bg>
  <p:cSld name="Slide 3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&amp; PREPROCESSING</a:t>
            </a:r>
            <a:endParaRPr lang="en-US" sz="3000" dirty="0"/>
          </a:p>
        </p:txBody>
      </p:sp>
      <p:sp>
        <p:nvSpPr>
          <p:cNvPr id="4" name="imbalance"/>
          <p:cNvSpPr/>
          <p:nvPr/>
        </p:nvSpPr>
        <p:spPr>
          <a:xfrm>
            <a:off x="548640" y="128016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B1F3A"/>
                </a:solidFill>
              </a:defRPr>
            </a:pPr>
            <a:r>
              <a:t>IBM Telco churn: 7,043 rows, 21 columns (78.9% categorical ratio: 15 of 19 features)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776257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585530" y="1920240"/>
            <a:ext cx="279875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1920240"/>
            <a:ext cx="77625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  73.5%  (5,174)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585530" y="1920240"/>
            <a:ext cx="2798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 26.5%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505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 about 2.77 : 1, which is why PR-AUC is tracked alongside ROC-AUC</a:t>
            </a:r>
            <a:endParaRPr lang="en-US" sz="1300" dirty="0"/>
          </a:p>
        </p:txBody>
      </p:sp>
      <p:sp>
        <p:nvSpPr>
          <p:cNvPr id="11" name="prep"/>
          <p:cNvSpPr/>
          <p:nvPr/>
        </p:nvSpPr>
        <p:spPr>
          <a:xfrm>
            <a:off x="548640" y="29718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22960" y="3081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74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stratified: 5,634 train / 1,409 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ratio preserved in both 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k-fold, to protect the run budget</a:t>
            </a:r>
            <a:endParaRPr lang="en-US" sz="1300" dirty="0"/>
          </a:p>
        </p:txBody>
      </p:sp>
      <p:sp>
        <p:nvSpPr>
          <p:cNvPr id="14" name="prep"/>
          <p:cNvSpPr/>
          <p:nvPr/>
        </p:nvSpPr>
        <p:spPr>
          <a:xfrm>
            <a:off x="6172200" y="29718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46520" y="3081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474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TotalCharges (tenure = 0) coerced and imputed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happens before run 1 and costs 0 experiments</a:t>
            </a:r>
            <a:endParaRPr lang="en-US" sz="1300" dirty="0"/>
          </a:p>
        </p:txBody>
      </p:sp>
      <p:sp>
        <p:nvSpPr>
          <p:cNvPr id="17" name="prep"/>
          <p:cNvSpPr/>
          <p:nvPr/>
        </p:nvSpPr>
        <p:spPr>
          <a:xfrm>
            <a:off x="548640" y="45720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2296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000">
                <a:solidFill>
                  <a:srgbClr val="0B1F3A"/>
                </a:solidFill>
              </a:defRPr>
            </a:pPr>
            <a:r>
              <a:t>Contract Type (18.0% SHAP - Month-to-Month 4x churn)</a:t>
            </a:r>
            <a:endParaRPr lang="en-US" sz="1300" dirty="0"/>
          </a:p>
          <a:p>
            <a:pPr>
              <a:defRPr sz="1000">
                <a:solidFill>
                  <a:srgbClr val="0B1F3A"/>
                </a:solidFill>
              </a:defRPr>
            </a:pPr>
            <a:r>
              <a:t>Spend Surge Ratio (10.0% SHAP - MonthlyToTotalRatio)</a:t>
            </a:r>
          </a:p>
          <a:p>
            <a:pPr>
              <a:defRPr sz="1000">
                <a:solidFill>
                  <a:srgbClr val="0B1F3A"/>
                </a:solidFill>
              </a:defRPr>
            </a:pPr>
            <a:r>
              <a:t>Tenure lifecycle (8.2%) &amp; Fiber Optic vs DSL (6.4%)</a:t>
            </a:r>
          </a:p>
        </p:txBody>
      </p:sp>
      <p:sp>
        <p:nvSpPr>
          <p:cNvPr id="20" name="prep"/>
          <p:cNvSpPr/>
          <p:nvPr/>
        </p:nvSpPr>
        <p:spPr>
          <a:xfrm>
            <a:off x="6172200" y="45720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4652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filtering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scores, which are model-free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Low-signal columns dropped at no experiment cost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8F5EE"/>
      </a:solidFill>
      <a:effectLst/>
    </p:bgPr>
  </p:bg>
  <p:cSld name="Slide 4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DESIGN &amp; PIPELINE</a:t>
            </a:r>
            <a:endParaRPr lang="en-US" sz="3000" dirty="0"/>
          </a:p>
        </p:txBody>
      </p:sp>
      <p:sp>
        <p:nvSpPr>
          <p:cNvPr id="4" name="stage"/>
          <p:cNvSpPr/>
          <p:nvPr/>
        </p:nvSpPr>
        <p:spPr>
          <a:xfrm>
            <a:off x="548640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Pre-Processor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7,043-row CSV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and engineer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0 / 15 runs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10" name="stage"/>
          <p:cNvSpPr/>
          <p:nvPr/>
        </p:nvSpPr>
        <p:spPr>
          <a:xfrm>
            <a:off x="3401568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0168" y="169164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016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Controller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runs ≤ 15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fit + predict_proba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ROC &amp; PR-AUC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88736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16" name="stage"/>
          <p:cNvSpPr/>
          <p:nvPr/>
        </p:nvSpPr>
        <p:spPr>
          <a:xfrm>
            <a:off x="6254496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096" y="169164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83096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Planner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reads run logs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overfit gap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strict JSON config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41664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22" name="stage"/>
          <p:cNvSpPr/>
          <p:nvPr/>
        </p:nvSpPr>
        <p:spPr>
          <a:xfrm>
            <a:off x="9107424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36024" y="16916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36024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Dashboard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36024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 stream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gauge and reasoning 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/ PR trajectory charts</a:t>
            </a:r>
            <a:endParaRPr lang="en-US" sz="1400" dirty="0"/>
          </a:p>
        </p:txBody>
      </p:sp>
      <p:sp>
        <p:nvSpPr>
          <p:cNvPr id="27" name="rule"/>
          <p:cNvSpPr/>
          <p:nvPr/>
        </p:nvSpPr>
        <p:spPr>
          <a:xfrm>
            <a:off x="548640" y="489204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892040"/>
            <a:ext cx="1056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RULE  </a:t>
            </a: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sees customer rows. It reasons only over run logs (params, train/val AUC, overfit gap) and emits JSON that Python validates before any fit.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8F5EE"/>
      </a:solidFill>
      <a:effectLst/>
    </p:bgPr>
  </p:bg>
  <p:cSld name="Slide 5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ALGORITHM &amp; MODELS</a:t>
            </a:r>
            <a:endParaRPr lang="en-US" sz="3000" dirty="0"/>
          </a:p>
        </p:txBody>
      </p:sp>
      <p:sp>
        <p:nvSpPr>
          <p:cNvPr id="4" name="models"/>
          <p:cNvSpPr/>
          <p:nvPr/>
        </p:nvSpPr>
        <p:spPr>
          <a:xfrm>
            <a:off x="548640" y="128016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lineup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(run 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487168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60120" y="2487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Depth-wise boosting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0120" y="30540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LightGBM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0540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Leaf-wise, fastest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621024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60120" y="36210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CatBoost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6210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</a:t>
            </a:r>
            <a:endParaRPr lang="en-US" sz="1300" dirty="0"/>
          </a:p>
        </p:txBody>
      </p:sp>
      <p:sp>
        <p:nvSpPr>
          <p:cNvPr id="18" name="why"/>
          <p:cNvSpPr/>
          <p:nvPr/>
        </p:nvSpPr>
        <p:spPr>
          <a:xfrm>
            <a:off x="5486400" y="1280160"/>
            <a:ext cx="6172200" cy="3017520"/>
          </a:xfrm>
          <a:prstGeom prst="roundRect">
            <a:avLst>
              <a:gd name="adj" fmla="val 24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760720" y="1417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CatBoost wins on Telco data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192024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050">
                <a:solidFill>
                  <a:srgbClr val="0B1F3A"/>
                </a:solidFill>
              </a:defRPr>
            </a:pPr>
            <a:r>
              <a:t>Native categorical handling via ordered target statistics prevents leakage across 78.9% categorical features</a:t>
            </a:r>
            <a:endParaRPr lang="en-US" sz="1500" dirty="0"/>
          </a:p>
          <a:p>
            <a:pPr>
              <a:defRPr sz="1050">
                <a:solidFill>
                  <a:srgbClr val="0B1F3A"/>
                </a:solidFill>
              </a:defRPr>
            </a:pPr>
            <a:r>
              <a:t>Symmetric (oblivious) trees resist deep branch overfitting (11.3% overfit vs 39.7% for Random Forest)</a:t>
            </a:r>
          </a:p>
          <a:p>
            <a:pPr>
              <a:defRPr sz="1050">
                <a:solidFill>
                  <a:srgbClr val="0B1F3A"/>
                </a:solidFill>
              </a:defRPr>
            </a:pPr>
            <a:r>
              <a:t>High non-linear capacity with strong baseline (0.8497 ROC-AUC vs 0.8468 for Logistic Regression)</a:t>
            </a:r>
          </a:p>
        </p:txBody>
      </p:sp>
      <p:sp>
        <p:nvSpPr>
          <p:cNvPr id="21" name="planner"/>
          <p:cNvSpPr/>
          <p:nvPr/>
        </p:nvSpPr>
        <p:spPr>
          <a:xfrm>
            <a:off x="548640" y="45262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2296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 logic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overfit gap and PR-AUC after each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depth, l2_leaf_reg, scale_pos_weight, learning_rate, rsm</a:t>
            </a:r>
            <a:endParaRPr lang="en-US" sz="1400" dirty="0"/>
          </a:p>
        </p:txBody>
      </p:sp>
      <p:sp>
        <p:nvSpPr>
          <p:cNvPr id="24" name="guard"/>
          <p:cNvSpPr/>
          <p:nvPr/>
        </p:nvSpPr>
        <p:spPr>
          <a:xfrm>
            <a:off x="6172200" y="45262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44652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guardrails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JSON-only output, bounds checked in Python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exec(): the LLM can never trigger extra fits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8F5EE"/>
      </a:solidFill>
      <a:effectLst/>
    </p:bgPr>
  </p:bg>
  <p:cSld name="Slide 6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 HISTORY &amp; SEARCH</a:t>
            </a:r>
            <a:endParaRPr lang="en-US" sz="3000" dirty="0"/>
          </a:p>
        </p:txBody>
      </p:sp>
      <p:sp>
        <p:nvSpPr>
          <p:cNvPr id="4" name="phase"/>
          <p:cNvSpPr/>
          <p:nvPr/>
        </p:nvSpPr>
        <p:spPr>
          <a:xfrm>
            <a:off x="548640" y="12801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1-4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tournament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LogReg, XGBoost, LightGBM, CatBoost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onto the best family</a:t>
            </a:r>
            <a:endParaRPr lang="en-US" sz="1400" dirty="0"/>
          </a:p>
        </p:txBody>
      </p:sp>
      <p:sp>
        <p:nvSpPr>
          <p:cNvPr id="8" name="phase"/>
          <p:cNvSpPr/>
          <p:nvPr/>
        </p:nvSpPr>
        <p:spPr>
          <a:xfrm>
            <a:off x="4297680" y="12801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5720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5-7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tuning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100">
                <a:solidFill>
                  <a:srgbClr val="0B1F3A"/>
                </a:solidFill>
              </a:defRPr>
            </a:pPr>
            <a:r>
              <a:t>Pruned Depth: 6 → 5</a:t>
            </a:r>
            <a:endParaRPr lang="en-US" sz="1400" dirty="0"/>
          </a:p>
          <a:p>
            <a:pPr>
              <a:defRPr sz="1100">
                <a:solidFill>
                  <a:srgbClr val="0B1F3A"/>
                </a:solidFill>
              </a:defRPr>
            </a:pPr>
            <a:r>
              <a:t>L2 Reg boosted: 8 → 10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Overfit dropped: 11.3% → 5.0%</a:t>
            </a:r>
          </a:p>
        </p:txBody>
      </p:sp>
      <p:sp>
        <p:nvSpPr>
          <p:cNvPr id="12" name="phase"/>
          <p:cNvSpPr/>
          <p:nvPr/>
        </p:nvSpPr>
        <p:spPr>
          <a:xfrm>
            <a:off x="8046720" y="12801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32104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8-9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 and halt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100">
                <a:solidFill>
                  <a:srgbClr val="0B1F3A"/>
                </a:solidFill>
              </a:defRPr>
            </a:pPr>
            <a:r>
              <a:t>Run 12: L2=14.0, Balanced</a:t>
            </a:r>
            <a:endParaRPr lang="en-US" sz="1400" dirty="0"/>
          </a:p>
          <a:p>
            <a:pPr>
              <a:defRPr sz="1100">
                <a:solidFill>
                  <a:srgbClr val="0B1F3A"/>
                </a:solidFill>
              </a:defRPr>
            </a:pPr>
            <a:r>
              <a:t>Sep Margin: 0.3683 (+18%)</a:t>
            </a:r>
          </a:p>
          <a:p>
            <a:pPr>
              <a:defRPr sz="1100" b="1">
                <a:solidFill>
                  <a:srgbClr val="B45309"/>
                </a:solidFill>
              </a:defRPr>
            </a:pPr>
            <a:r>
              <a:t>Brake @ Run 15: Gain &lt; 0.001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548640" y="370332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bandit exploration, then guided tuning, then a convergence brake. Early stopping inside each fit replaces separate n_estimators runs.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109960" cy="164592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48640" y="4389120"/>
            <a:ext cx="11109960" cy="1645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4370832"/>
          <a:ext cx="111099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468880"/>
                <a:gridCol w="4343400"/>
                <a:gridCol w="1645920"/>
                <a:gridCol w="1645920"/>
              </a:tblGrid>
              <a:tr h="24166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766E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766E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766E"/>
                          </a:solidFill>
                        </a:defRPr>
                      </a:pPr>
                      <a:r>
                        <a:t>Key Hyperparameters (RESULTS.md)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766E"/>
                          </a:solidFill>
                        </a:defRPr>
                      </a:pPr>
                      <a:r>
                        <a:t>5-Fold OOF ROC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766E"/>
                          </a:solidFill>
                        </a:defRPr>
                      </a:pPr>
                      <a:r>
                        <a:t>Overfit Index (Ω)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Run 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CatBoost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Depth 6, L2 3.0, LR 0.05, Unweighted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0.84974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11.27% (Gen Gap: 0.046)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Run 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Depth 6, L2 3.0, LR 0.05, Leaf-Wise (1.4s)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0.84845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18.98% (Gen Gap: 0.079)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Run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Depth 6, L2 3.0, LR 0.05, Taylor Tree (2.3s)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0.84879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19.92% (Gen Gap: 0.083)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Run 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Depth 8, 300 Trees, Bagging (7.1s)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0.84728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39.73% (Memorization trap)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Run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L-BFGS, C=1.0, L2 Reg (Fastest: 0.6s)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0.84681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F3A"/>
                          </a:solidFill>
                        </a:defRPr>
                      </a:pPr>
                      <a:r>
                        <a:t>8.33% (Linear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66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</a:defRPr>
                      </a:pPr>
                      <a:r>
                        <a:t>Run 12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DC2626"/>
                          </a:solidFill>
                        </a:defRPr>
                      </a:pPr>
                      <a:r>
                        <a:t>CatBoost Champion ★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DC2626"/>
                          </a:solidFill>
                        </a:defRPr>
                      </a:pPr>
                      <a:r>
                        <a:t>Depth 5, L2 14.0 (+366%), Balanced mode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</a:defRPr>
                      </a:pPr>
                      <a:r>
                        <a:t>0.85058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</a:defRPr>
                      </a:pPr>
                      <a:r>
                        <a:t>6.88% (Holdout: 0.84426)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8F5EE"/>
      </a:solidFill>
      <a:effectLst/>
    </p:bgPr>
  </p:bg>
  <p:cSld name="Slide 7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4" name="metric"/>
          <p:cNvSpPr/>
          <p:nvPr/>
        </p:nvSpPr>
        <p:spPr>
          <a:xfrm>
            <a:off x="548640" y="13258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ROC-AUC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ranking quality across all thresholds.</a:t>
            </a:r>
            <a:endParaRPr lang="en-US" sz="1500" dirty="0"/>
          </a:p>
        </p:txBody>
      </p:sp>
      <p:sp>
        <p:nvSpPr>
          <p:cNvPr id="9" name="metric"/>
          <p:cNvSpPr/>
          <p:nvPr/>
        </p:nvSpPr>
        <p:spPr>
          <a:xfrm>
            <a:off x="4297680" y="13258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0020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PR-AUC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metric: accuracy on the churner minority class.</a:t>
            </a:r>
            <a:endParaRPr lang="en-US" sz="1500" dirty="0"/>
          </a:p>
        </p:txBody>
      </p:sp>
      <p:sp>
        <p:nvSpPr>
          <p:cNvPr id="14" name="metric"/>
          <p:cNvSpPr/>
          <p:nvPr/>
        </p:nvSpPr>
        <p:spPr>
          <a:xfrm>
            <a:off x="8046720" y="13258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002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stratified 80/20 holdout, no k-fold.</a:t>
            </a:r>
            <a:endParaRPr lang="en-US" sz="1500" dirty="0"/>
          </a:p>
        </p:txBody>
      </p:sp>
      <p:sp>
        <p:nvSpPr>
          <p:cNvPr id="19" name="metric"/>
          <p:cNvSpPr/>
          <p:nvPr/>
        </p:nvSpPr>
        <p:spPr>
          <a:xfrm>
            <a:off x="548640" y="37490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Probabilities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predict_proba scores, never 0/1 labels.</a:t>
            </a:r>
            <a:endParaRPr lang="en-US" sz="1500" dirty="0"/>
          </a:p>
        </p:txBody>
      </p:sp>
      <p:sp>
        <p:nvSpPr>
          <p:cNvPr id="24" name="metric"/>
          <p:cNvSpPr/>
          <p:nvPr/>
        </p:nvSpPr>
        <p:spPr>
          <a:xfrm>
            <a:off x="4297680" y="37490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02336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Overfit gap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minus validation AUC, the planner's main signal.</a:t>
            </a:r>
            <a:endParaRPr lang="en-US" sz="1500" dirty="0"/>
          </a:p>
        </p:txBody>
      </p:sp>
      <p:sp>
        <p:nvSpPr>
          <p:cNvPr id="29" name="metric"/>
          <p:cNvSpPr/>
          <p:nvPr/>
        </p:nvSpPr>
        <p:spPr>
          <a:xfrm>
            <a:off x="8046720" y="37490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02336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Efficiency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used out of 15, which feeds the final score.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8F5EE"/>
      </a:solidFill>
      <a:effectLst/>
    </p:bgPr>
  </p:bg>
  <p:cSld name="Slide 8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ROC-AUC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PR-AUC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Handbook target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0.8468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0.6603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about 0.80 (0.6s fit)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0.8488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0.6630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n/a (2.3s fit)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0.8485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0.6627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n/a (1.4s fit)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</a:defRPr>
                      </a:pPr>
                      <a:r>
                        <a:t>CatBoost (Run #12 Champion ★)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</a:defRPr>
                      </a:pPr>
                      <a:r>
                        <a:t>0.8506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</a:defRPr>
                      </a:pPr>
                      <a:r>
                        <a:t>0.6645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766E"/>
                          </a:solidFill>
                        </a:defRPr>
                      </a:pPr>
                      <a:r>
                        <a:t>0.85+ (Holdout: 0.8443)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Weighted blend / Ensemble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0.8506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0.6660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B1F3A"/>
                          </a:solidFill>
                        </a:defRPr>
                      </a:pPr>
                      <a:r>
                        <a:t>+0.003 to +0.005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tat"/>
          <p:cNvSpPr/>
          <p:nvPr/>
        </p:nvSpPr>
        <p:spPr>
          <a:xfrm>
            <a:off x="7589520" y="132588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72400" y="1325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800" b="1">
                <a:solidFill>
                  <a:srgbClr val="0F766E"/>
                </a:solidFill>
              </a:defRPr>
            </a:pPr>
            <a:r>
              <a:t>15 / 15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9875520" y="13258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>
                <a:solidFill>
                  <a:srgbClr val="0B1F3A"/>
                </a:solidFill>
              </a:defRPr>
            </a:pPr>
            <a:r>
              <a:t>runs used (Eff: 1.000)</a:t>
            </a:r>
          </a:p>
        </p:txBody>
      </p:sp>
      <p:sp>
        <p:nvSpPr>
          <p:cNvPr id="8" name="stat"/>
          <p:cNvSpPr/>
          <p:nvPr/>
        </p:nvSpPr>
        <p:spPr>
          <a:xfrm>
            <a:off x="7589520" y="246888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4" name="Text 6"/>
          <p:cNvSpPr txBox="1"/>
          <p:nvPr/>
        </p:nvSpPr>
        <p:spPr>
          <a:xfrm>
            <a:off x="777240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600" b="1">
                <a:solidFill>
                  <a:srgbClr val="B45309"/>
                </a:solidFill>
              </a:defRPr>
            </a:pPr>
            <a:r>
              <a:t>-38.9%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9875520" y="24688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100">
                <a:solidFill>
                  <a:srgbClr val="0B1F3A"/>
                </a:solidFill>
              </a:defRPr>
            </a:pPr>
            <a:r>
              <a:t>overfitting drop (Ω: 11.3%→6.9%)</a:t>
            </a:r>
          </a:p>
        </p:txBody>
      </p:sp>
      <p:sp>
        <p:nvSpPr>
          <p:cNvPr id="11" name="stat"/>
          <p:cNvSpPr/>
          <p:nvPr/>
        </p:nvSpPr>
        <p:spPr>
          <a:xfrm>
            <a:off x="7589520" y="361188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772400" y="3611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600" b="1">
                <a:solidFill>
                  <a:srgbClr val="0F766E"/>
                </a:solidFill>
              </a:defRPr>
            </a:pPr>
            <a:r>
              <a:t>78.9%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9875520" y="36118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100">
                <a:solidFill>
                  <a:srgbClr val="0B1F3A"/>
                </a:solidFill>
              </a:defRPr>
            </a:pPr>
            <a:r>
              <a:t>holdout recall (295/374 caught)</a:t>
            </a:r>
          </a:p>
        </p:txBody>
      </p:sp>
      <p:sp>
        <p:nvSpPr>
          <p:cNvPr id="14" name="Shape 11"/>
          <p:cNvSpPr/>
          <p:nvPr/>
        </p:nvSpPr>
        <p:spPr>
          <a:xfrm>
            <a:off x="548640" y="4846320"/>
            <a:ext cx="11109960" cy="128016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48640" y="4846320"/>
            <a:ext cx="11109960" cy="12801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6" name="Picture 25" descr="chart_traje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846320"/>
            <a:ext cx="111099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8F5EE"/>
      </a:solidFill>
      <a:effectLst/>
    </p:bgPr>
  </p:bg>
  <p:cSld name="Slide 9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&amp; SAMPLE OUTPUTS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301752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30175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/>
        </p:txBody>
      </p:sp>
      <p:sp>
        <p:nvSpPr>
          <p:cNvPr id="6" name="Shape 4"/>
          <p:cNvSpPr/>
          <p:nvPr/>
        </p:nvSpPr>
        <p:spPr>
          <a:xfrm>
            <a:off x="6172200" y="1280160"/>
            <a:ext cx="5486400" cy="301752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172200" y="1280160"/>
            <a:ext cx="5486400" cy="30175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/>
        </p:txBody>
      </p:sp>
      <p:sp>
        <p:nvSpPr>
          <p:cNvPr id="8" name="reasoning"/>
          <p:cNvSpPr/>
          <p:nvPr/>
        </p:nvSpPr>
        <p:spPr>
          <a:xfrm>
            <a:off x="548640" y="4526280"/>
            <a:ext cx="694944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" y="4617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planner reasoning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000" i="1">
                <a:solidFill>
                  <a:srgbClr val="0F766E"/>
                </a:solidFill>
              </a:defRPr>
            </a:pPr>
            <a:r>
              <a:t>"RESULTS.md Executive Summary (Run #12): Prioritized generalization gap closure over raw depth. Pruned tree depth (6 → 5) and scaled L2 penalty to 14.0 (+366%) with Balanced class weighting. Overfitting index plunged by 38.9% (11.27% → 6.88%) while expanding separation margin by +18.0% (0.3121 → 0.3683). Champion Model #12 achieves 0.8506 OOF ROC-AUC and 0.8443 Sealed Holdout ROC-AUC with 78.9% recall at J*=0.49."</a:t>
            </a:r>
          </a:p>
        </p:txBody>
      </p:sp>
      <p:sp>
        <p:nvSpPr>
          <p:cNvPr id="11" name="Shape 9"/>
          <p:cNvSpPr/>
          <p:nvPr/>
        </p:nvSpPr>
        <p:spPr>
          <a:xfrm>
            <a:off x="7680960" y="4526280"/>
            <a:ext cx="3977640" cy="150876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680960" y="4526280"/>
            <a:ext cx="3977640" cy="15087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  <a:defRPr b="1" sz="950">
                <a:solidFill>
                  <a:srgbClr val="0B1F3A"/>
                </a:solidFill>
              </a:defRPr>
            </a:pPr>
            <a:r>
              <a:t>SAMPLE PREDICTIONS (SEALED HOLDOUT - 1,409 ROWS)</a:t>
            </a:r>
            <a:endParaRPr lang="en-US" sz="1400" dirty="0"/>
          </a:p>
          <a:p>
            <a:pPr>
              <a:defRPr sz="900" b="1">
                <a:solidFill>
                  <a:srgbClr val="DC2626"/>
                </a:solidFill>
              </a:defRPr>
            </a:pPr>
            <a:r>
              <a:t>• CUST_00001: 89.3% churn risk [HIGH HAZARD - Fiber, M2M]</a:t>
            </a:r>
          </a:p>
          <a:p>
            <a:pPr>
              <a:defRPr sz="900" b="1">
                <a:solidFill>
                  <a:srgbClr val="0F766E"/>
                </a:solidFill>
              </a:defRPr>
            </a:pPr>
            <a:r>
              <a:t>• CUST_00004: 1.8% churn risk [LOYAL / STABLE - 2-Year]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Cutoff J*=0.49: 78.9% recall (295/374 caught, 79 missed)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6" name="Picture 25" descr="dashboard_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280160"/>
            <a:ext cx="5486400" cy="3017520"/>
          </a:xfrm>
          <a:prstGeom prst="rect">
            <a:avLst/>
          </a:prstGeom>
        </p:spPr>
      </p:pic>
      <p:pic>
        <p:nvPicPr>
          <p:cNvPr id="27" name="Picture 26" descr="hyperparameters_pre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280160"/>
            <a:ext cx="54864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8F5EE"/>
      </a:solidFill>
      <a:effectLst/>
    </p:bgPr>
  </p:bg>
  <p:cSld name="Slide 10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LIMITATIONS, FUTURE &amp; CONCLUSION</a:t>
            </a:r>
            <a:endParaRPr lang="en-US" sz="3000" dirty="0"/>
          </a:p>
        </p:txBody>
      </p:sp>
      <p:sp>
        <p:nvSpPr>
          <p:cNvPr id="4" name="limits"/>
          <p:cNvSpPr/>
          <p:nvPr/>
        </p:nvSpPr>
        <p:spPr>
          <a:xfrm>
            <a:off x="548640" y="1280160"/>
            <a:ext cx="3520440" cy="4754880"/>
          </a:xfrm>
          <a:prstGeom prst="roundRect">
            <a:avLst>
              <a:gd name="adj" fmla="val 207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table, no temporal or behavioral signals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validation split gives a noisy estimate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quality depends on LLM reasoning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can trade ROC-AUC for recall</a:t>
            </a:r>
            <a:endParaRPr lang="en-US" sz="1400" dirty="0"/>
          </a:p>
        </p:txBody>
      </p:sp>
      <p:sp>
        <p:nvSpPr>
          <p:cNvPr id="7" name="future"/>
          <p:cNvSpPr/>
          <p:nvPr/>
        </p:nvSpPr>
        <p:spPr>
          <a:xfrm>
            <a:off x="4251960" y="1280160"/>
            <a:ext cx="3520440" cy="4754880"/>
          </a:xfrm>
          <a:prstGeom prst="roundRect">
            <a:avLst>
              <a:gd name="adj" fmla="val 207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01168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decision thresholds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behavior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for each churn score</a:t>
            </a:r>
            <a:endParaRPr lang="en-US" sz="1400" dirty="0"/>
          </a:p>
        </p:txBody>
      </p:sp>
      <p:sp>
        <p:nvSpPr>
          <p:cNvPr id="10" name="conclusion"/>
          <p:cNvSpPr/>
          <p:nvPr/>
        </p:nvSpPr>
        <p:spPr>
          <a:xfrm>
            <a:off x="7955280" y="1280160"/>
            <a:ext cx="3703320" cy="4754880"/>
          </a:xfrm>
          <a:prstGeom prst="roundRect">
            <a:avLst>
              <a:gd name="adj" fmla="val 197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0116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LLM-guided tuning with hard budget guardrails reaches strong ROC-AUC in fewer experiments, and every decision is logged and auditable.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QUANTA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934</Words>
  <Application>Microsoft Office PowerPoint</Application>
  <PresentationFormat>Widescreen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QUANTA - Autonomous AI Data Scientist</dc:title>
  <dc:subject>PptxGenJS Presentation</dc:subject>
  <dc:creator>QUANTA</dc:creator>
  <cp:lastModifiedBy>Jayavardhan Gandrotula</cp:lastModifiedBy>
  <cp:revision>1</cp:revision>
  <dcterms:created xsi:type="dcterms:W3CDTF">2026-10-26T17:56:36Z</dcterms:created>
  <dcterms:modified xsi:type="dcterms:W3CDTF">2026-10-26T18:01:15Z</dcterms:modified>
</cp:coreProperties>
</file>