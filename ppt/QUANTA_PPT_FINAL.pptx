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97918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bg>
    <p:bgPr>
      <a:solidFill>
        <a:srgbClr val="FAF6EE"/>
      </a:solidFill>
      <a:effectLst/>
    </p:bgPr>
  </p:bg>
  <p:cSld name="DEFAULT"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bg>
    <p:bgPr>
      <a:solidFill>
        <a:srgbClr val="FAF6EE"/>
      </a:solidFill>
      <a:effectLst/>
    </p:bgPr>
  </p:bg>
  <p:cSld name="QUANTA_CONTENT"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QUANTA  //  CHALLENGE 1  //  CHURN OPTIMIZATION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475569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bg>
    <p:bgPr>
      <a:solidFill>
        <a:srgbClr val="FAF6EE"/>
      </a:solidFill>
      <a:effectLst/>
    </p:bgPr>
  </p:bg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475569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FAF6EE"/>
      </a:solidFill>
      <a:effectLst/>
    </p:bgPr>
  </p:bg>
  <p:cSld name="Slide 1"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 descr="cream_wireframe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 txBox="1"/>
          <p:nvPr/>
        </p:nvSpPr>
        <p:spPr>
          <a:xfrm>
            <a:off x="731520" y="822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AUTONOMOUS AI DATA SCIENTIST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28016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0" b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QUANTA</a:t>
            </a:r>
            <a:endParaRPr lang="en-US" sz="8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6060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Budget-Constrained Churn Optimization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2918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planner tunes a CatBoost churn model in 15 experiments or fewer, and stops on its own once accuracy plateaus.</a:t>
            </a:r>
            <a:endParaRPr lang="en-US" sz="1800" dirty="0"/>
          </a:p>
        </p:txBody>
      </p:sp>
      <p:sp>
        <p:nvSpPr>
          <p:cNvPr id="6" name="member"/>
          <p:cNvSpPr/>
          <p:nvPr/>
        </p:nvSpPr>
        <p:spPr>
          <a:xfrm>
            <a:off x="731520" y="4663440"/>
            <a:ext cx="1965960" cy="640080"/>
          </a:xfrm>
          <a:prstGeom prst="roundRect">
            <a:avLst>
              <a:gd name="adj" fmla="val 11429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CFCBB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466344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Ishitwa</a:t>
            </a:r>
            <a:endParaRPr lang="en-US" sz="1600" dirty="0"/>
          </a:p>
        </p:txBody>
      </p:sp>
      <p:sp>
        <p:nvSpPr>
          <p:cNvPr id="8" name="member"/>
          <p:cNvSpPr/>
          <p:nvPr/>
        </p:nvSpPr>
        <p:spPr>
          <a:xfrm>
            <a:off x="2880360" y="4663440"/>
            <a:ext cx="1965960" cy="640080"/>
          </a:xfrm>
          <a:prstGeom prst="roundRect">
            <a:avLst>
              <a:gd name="adj" fmla="val 11429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CFCBB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880360" y="466344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Uday</a:t>
            </a:r>
            <a:endParaRPr lang="en-US" sz="1600" dirty="0"/>
          </a:p>
        </p:txBody>
      </p:sp>
      <p:sp>
        <p:nvSpPr>
          <p:cNvPr id="10" name="member"/>
          <p:cNvSpPr/>
          <p:nvPr/>
        </p:nvSpPr>
        <p:spPr>
          <a:xfrm>
            <a:off x="5029200" y="4663440"/>
            <a:ext cx="1965960" cy="640080"/>
          </a:xfrm>
          <a:prstGeom prst="roundRect">
            <a:avLst>
              <a:gd name="adj" fmla="val 11429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CFCBB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9200" y="466344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Avikshith</a:t>
            </a:r>
            <a:endParaRPr lang="en-US" sz="1600" dirty="0"/>
          </a:p>
        </p:txBody>
      </p:sp>
      <p:sp>
        <p:nvSpPr>
          <p:cNvPr id="12" name="member"/>
          <p:cNvSpPr/>
          <p:nvPr/>
        </p:nvSpPr>
        <p:spPr>
          <a:xfrm>
            <a:off x="7178040" y="4663440"/>
            <a:ext cx="1965960" cy="640080"/>
          </a:xfrm>
          <a:prstGeom prst="roundRect">
            <a:avLst>
              <a:gd name="adj" fmla="val 11429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CFCBB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178040" y="466344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Jayavardhan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43159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 MEMBERS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5577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TRACK: CHALLENGE 1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475569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FAF6EE"/>
      </a:solidFill>
      <a:effectLst/>
    </p:bgPr>
  </p:bg>
  <p:cSld name="Slide 2"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 descr="cream_wireframe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 txBox="1"/>
          <p:nvPr/>
        </p:nvSpPr>
        <p:spPr>
          <a:xfrm>
            <a:off x="548640" y="36576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//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1600200" y="365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 &amp; MOTIVATION</a:t>
            </a:r>
            <a:endParaRPr lang="en-US" sz="3000" dirty="0"/>
          </a:p>
        </p:txBody>
      </p:sp>
      <p:sp>
        <p:nvSpPr>
          <p:cNvPr id="4" name="stat"/>
          <p:cNvSpPr/>
          <p:nvPr/>
        </p:nvSpPr>
        <p:spPr>
          <a:xfrm>
            <a:off x="548640" y="1280160"/>
            <a:ext cx="3474720" cy="1554480"/>
          </a:xfrm>
          <a:prstGeom prst="roundRect">
            <a:avLst>
              <a:gd name="adj" fmla="val 4706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CFCBB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37160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7,043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2402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customers to score</a:t>
            </a:r>
            <a:endParaRPr lang="en-US" sz="1600" dirty="0"/>
          </a:p>
        </p:txBody>
      </p:sp>
      <p:sp>
        <p:nvSpPr>
          <p:cNvPr id="7" name="stat"/>
          <p:cNvSpPr/>
          <p:nvPr/>
        </p:nvSpPr>
        <p:spPr>
          <a:xfrm>
            <a:off x="4297680" y="1280160"/>
            <a:ext cx="3474720" cy="1554480"/>
          </a:xfrm>
          <a:prstGeom prst="roundRect">
            <a:avLst>
              <a:gd name="adj" fmla="val 4706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CFCBB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297680" y="137160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≤ 15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4297680" y="22402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fit-and-validate experiments</a:t>
            </a:r>
            <a:endParaRPr lang="en-US" sz="1600" dirty="0"/>
          </a:p>
        </p:txBody>
      </p:sp>
      <p:sp>
        <p:nvSpPr>
          <p:cNvPr id="10" name="stat"/>
          <p:cNvSpPr/>
          <p:nvPr/>
        </p:nvSpPr>
        <p:spPr>
          <a:xfrm>
            <a:off x="8046720" y="1280160"/>
            <a:ext cx="3474720" cy="1554480"/>
          </a:xfrm>
          <a:prstGeom prst="roundRect">
            <a:avLst>
              <a:gd name="adj" fmla="val 4706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CFCBB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46720" y="137160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B453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AUC × Eff.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8046720" y="22402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 score formula</a:t>
            </a:r>
            <a:endParaRPr lang="en-US" sz="1600" dirty="0"/>
          </a:p>
        </p:txBody>
      </p:sp>
      <p:sp>
        <p:nvSpPr>
          <p:cNvPr id="13" name="cost"/>
          <p:cNvSpPr/>
          <p:nvPr/>
        </p:nvSpPr>
        <p:spPr>
          <a:xfrm>
            <a:off x="548640" y="3108960"/>
            <a:ext cx="5486400" cy="2926080"/>
          </a:xfrm>
          <a:prstGeom prst="roundRect">
            <a:avLst>
              <a:gd name="adj" fmla="val 25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CFCBB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32918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cost of being wrong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3794760"/>
            <a:ext cx="4937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churner (false negative): recurring revenue is lost without warning.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alarm (false positive): a retention offer is wasted on a happy customer.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rank customers by churn risk so offers reach the right people.</a:t>
            </a:r>
            <a:endParaRPr lang="en-US" sz="1500" dirty="0"/>
          </a:p>
        </p:txBody>
      </p:sp>
      <p:sp>
        <p:nvSpPr>
          <p:cNvPr id="16" name="constraint"/>
          <p:cNvSpPr/>
          <p:nvPr/>
        </p:nvSpPr>
        <p:spPr>
          <a:xfrm>
            <a:off x="6217920" y="3108960"/>
            <a:ext cx="5440680" cy="2926080"/>
          </a:xfrm>
          <a:prstGeom prst="roundRect">
            <a:avLst>
              <a:gd name="adj" fmla="val 25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CFCBB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92240" y="32918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453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constraint that shapes everything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3794760"/>
            <a:ext cx="4937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grid search over 5 hyperparameters needs 1,000+ training runs.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get 15 runs, so every experiment must be chosen using feedback from the last.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runs used means a higher efficiency factor and a better score.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475569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FAF6EE"/>
      </a:solidFill>
      <a:effectLst/>
    </p:bgPr>
  </p:bg>
  <p:cSld name="Slide 3"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 descr="cream_wireframe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 txBox="1"/>
          <p:nvPr/>
        </p:nvSpPr>
        <p:spPr>
          <a:xfrm>
            <a:off x="548640" y="36576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//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1600200" y="365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 &amp; PREPROCESSING</a:t>
            </a:r>
            <a:endParaRPr lang="en-US" sz="3000" dirty="0"/>
          </a:p>
        </p:txBody>
      </p:sp>
      <p:sp>
        <p:nvSpPr>
          <p:cNvPr id="4" name="imbalance"/>
          <p:cNvSpPr/>
          <p:nvPr/>
        </p:nvSpPr>
        <p:spPr>
          <a:xfrm>
            <a:off x="548640" y="1280160"/>
            <a:ext cx="11109960" cy="1463040"/>
          </a:xfrm>
          <a:prstGeom prst="roundRect">
            <a:avLst>
              <a:gd name="adj" fmla="val 50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CFCBB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417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IBM Telco churn: 7,043 rows, 21 columns (16 categorical)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1920240"/>
            <a:ext cx="7762570" cy="5029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85530" y="1920240"/>
            <a:ext cx="2798750" cy="5029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1920240"/>
            <a:ext cx="77625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STAY  73.5%  (5,174)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585530" y="1920240"/>
            <a:ext cx="279875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CHURN 26.5%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45059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 ratio about 2.77 : 1, which is why PR-AUC is tracked alongside ROC-AUC</a:t>
            </a:r>
            <a:endParaRPr lang="en-US" sz="1300" dirty="0"/>
          </a:p>
        </p:txBody>
      </p:sp>
      <p:sp>
        <p:nvSpPr>
          <p:cNvPr id="11" name="prep"/>
          <p:cNvSpPr/>
          <p:nvPr/>
        </p:nvSpPr>
        <p:spPr>
          <a:xfrm>
            <a:off x="548640" y="2971800"/>
            <a:ext cx="5486400" cy="1463040"/>
          </a:xfrm>
          <a:prstGeom prst="roundRect">
            <a:avLst>
              <a:gd name="adj" fmla="val 50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CFCBB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30815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Split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347472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stratified: 5,634 train / 1,409 validation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ratio preserved in both sets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k-fold, to protect the run budget</a:t>
            </a:r>
            <a:endParaRPr lang="en-US" sz="1300" dirty="0"/>
          </a:p>
        </p:txBody>
      </p:sp>
      <p:sp>
        <p:nvSpPr>
          <p:cNvPr id="14" name="prep"/>
          <p:cNvSpPr/>
          <p:nvPr/>
        </p:nvSpPr>
        <p:spPr>
          <a:xfrm>
            <a:off x="6172200" y="2971800"/>
            <a:ext cx="5486400" cy="1463040"/>
          </a:xfrm>
          <a:prstGeom prst="roundRect">
            <a:avLst>
              <a:gd name="adj" fmla="val 50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CFCBB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46520" y="30815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Cleaning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446520" y="347472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 TotalCharges (tenure = 0) coerced and imputed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of this happens before run 1 and costs 0 experiments</a:t>
            </a:r>
            <a:endParaRPr lang="en-US" sz="1300" dirty="0"/>
          </a:p>
        </p:txBody>
      </p:sp>
      <p:sp>
        <p:nvSpPr>
          <p:cNvPr id="17" name="prep"/>
          <p:cNvSpPr/>
          <p:nvPr/>
        </p:nvSpPr>
        <p:spPr>
          <a:xfrm>
            <a:off x="548640" y="4572000"/>
            <a:ext cx="5486400" cy="1463040"/>
          </a:xfrm>
          <a:prstGeom prst="roundRect">
            <a:avLst>
              <a:gd name="adj" fmla="val 50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CFCBB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" y="46817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453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Engineered features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507492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Surge Ratio: sudden bill increases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Lock-In Index: count of active add-ons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Contract Flag: month-to-month + e-check</a:t>
            </a:r>
            <a:endParaRPr lang="en-US" sz="1300" dirty="0"/>
          </a:p>
        </p:txBody>
      </p:sp>
      <p:sp>
        <p:nvSpPr>
          <p:cNvPr id="20" name="prep"/>
          <p:cNvSpPr/>
          <p:nvPr/>
        </p:nvSpPr>
        <p:spPr>
          <a:xfrm>
            <a:off x="6172200" y="4572000"/>
            <a:ext cx="5486400" cy="1463040"/>
          </a:xfrm>
          <a:prstGeom prst="roundRect">
            <a:avLst>
              <a:gd name="adj" fmla="val 50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CFCBB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46520" y="46817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 filtering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446520" y="507492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Information scores, which are model-free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Low-signal columns dropped at no experiment cost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475569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FAF6EE"/>
      </a:solidFill>
      <a:effectLst/>
    </p:bgPr>
  </p:bg>
  <p:cSld name="Slide 4"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 descr="cream_wireframe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 txBox="1"/>
          <p:nvPr/>
        </p:nvSpPr>
        <p:spPr>
          <a:xfrm>
            <a:off x="548640" y="36576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//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1600200" y="365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 DESIGN &amp; PIPELINE</a:t>
            </a:r>
            <a:endParaRPr lang="en-US" sz="3000" dirty="0"/>
          </a:p>
        </p:txBody>
      </p:sp>
      <p:sp>
        <p:nvSpPr>
          <p:cNvPr id="4" name="stage"/>
          <p:cNvSpPr/>
          <p:nvPr/>
        </p:nvSpPr>
        <p:spPr>
          <a:xfrm>
            <a:off x="548640" y="1463040"/>
            <a:ext cx="2514600" cy="3108960"/>
          </a:xfrm>
          <a:prstGeom prst="roundRect">
            <a:avLst>
              <a:gd name="adj" fmla="val 2909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CFCBB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691640"/>
            <a:ext cx="411480" cy="4114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691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2402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Free Pre-Processor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92608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7,043-row CSV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Impute and engineer features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0 / 15 runs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035808" y="27432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</a:t>
            </a:r>
            <a:endParaRPr lang="en-US" sz="2000" dirty="0"/>
          </a:p>
        </p:txBody>
      </p:sp>
      <p:sp>
        <p:nvSpPr>
          <p:cNvPr id="10" name="stage"/>
          <p:cNvSpPr/>
          <p:nvPr/>
        </p:nvSpPr>
        <p:spPr>
          <a:xfrm>
            <a:off x="3401568" y="1463040"/>
            <a:ext cx="2514600" cy="3108960"/>
          </a:xfrm>
          <a:prstGeom prst="roundRect">
            <a:avLst>
              <a:gd name="adj" fmla="val 2909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CFCBB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30168" y="1691640"/>
            <a:ext cx="411480" cy="41148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30168" y="1691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630168" y="22402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Budget Controller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630168" y="292608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Enforces runs ≤ 15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fit + predict_proba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Computes ROC &amp; PR-AUC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888736" y="27432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</a:t>
            </a:r>
            <a:endParaRPr lang="en-US" sz="2000" dirty="0"/>
          </a:p>
        </p:txBody>
      </p:sp>
      <p:sp>
        <p:nvSpPr>
          <p:cNvPr id="16" name="stage"/>
          <p:cNvSpPr/>
          <p:nvPr/>
        </p:nvSpPr>
        <p:spPr>
          <a:xfrm>
            <a:off x="6254496" y="1463040"/>
            <a:ext cx="2514600" cy="3108960"/>
          </a:xfrm>
          <a:prstGeom prst="roundRect">
            <a:avLst>
              <a:gd name="adj" fmla="val 2909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CFCBB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83096" y="1691640"/>
            <a:ext cx="411480" cy="41148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83096" y="1691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483096" y="22402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 Planner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483096" y="292608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API reads run logs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Diagnoses overfit gap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strict JSON config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741664" y="27432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</a:t>
            </a:r>
            <a:endParaRPr lang="en-US" sz="2000" dirty="0"/>
          </a:p>
        </p:txBody>
      </p:sp>
      <p:sp>
        <p:nvSpPr>
          <p:cNvPr id="22" name="stage"/>
          <p:cNvSpPr/>
          <p:nvPr/>
        </p:nvSpPr>
        <p:spPr>
          <a:xfrm>
            <a:off x="9107424" y="1463040"/>
            <a:ext cx="2514600" cy="3108960"/>
          </a:xfrm>
          <a:prstGeom prst="roundRect">
            <a:avLst>
              <a:gd name="adj" fmla="val 2909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CFCBB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336024" y="1691640"/>
            <a:ext cx="411480" cy="4114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336024" y="1691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9336024" y="22402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Dashboard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9336024" y="292608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event stream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gauge and reasoning log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/ PR trajectory charts</a:t>
            </a:r>
            <a:endParaRPr lang="en-US" sz="1400" dirty="0"/>
          </a:p>
        </p:txBody>
      </p:sp>
      <p:sp>
        <p:nvSpPr>
          <p:cNvPr id="27" name="rule"/>
          <p:cNvSpPr/>
          <p:nvPr/>
        </p:nvSpPr>
        <p:spPr>
          <a:xfrm>
            <a:off x="548640" y="4892040"/>
            <a:ext cx="11109960" cy="1097280"/>
          </a:xfrm>
          <a:prstGeom prst="roundRect">
            <a:avLst>
              <a:gd name="adj" fmla="val 6667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CFCBBD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22960" y="4892040"/>
            <a:ext cx="10561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453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DESIGN RULE  </a:t>
            </a: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never sees customer rows. It reasons only over run logs (params, train/val AUC, overfit gap) and emits JSON that Python validates before any fit.</a:t>
            </a:r>
            <a:endParaRPr lang="en-US" sz="16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475569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FAF6EE"/>
      </a:solidFill>
      <a:effectLst/>
    </p:bgPr>
  </p:bg>
  <p:cSld name="Slide 5"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 descr="cream_wireframe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 txBox="1"/>
          <p:nvPr/>
        </p:nvSpPr>
        <p:spPr>
          <a:xfrm>
            <a:off x="548640" y="36576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//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1600200" y="365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 ALGORITHM &amp; MODELS</a:t>
            </a:r>
            <a:endParaRPr lang="en-US" sz="3000" dirty="0"/>
          </a:p>
        </p:txBody>
      </p:sp>
      <p:sp>
        <p:nvSpPr>
          <p:cNvPr id="4" name="models"/>
          <p:cNvSpPr/>
          <p:nvPr/>
        </p:nvSpPr>
        <p:spPr>
          <a:xfrm>
            <a:off x="548640" y="1280160"/>
            <a:ext cx="4754880" cy="3017520"/>
          </a:xfrm>
          <a:prstGeom prst="roundRect">
            <a:avLst>
              <a:gd name="adj" fmla="val 2424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CFCBB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4173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lineup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1920240"/>
            <a:ext cx="4206240" cy="457200"/>
          </a:xfrm>
          <a:prstGeom prst="roundRect">
            <a:avLst>
              <a:gd name="adj" fmla="val 12000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CFCBB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19202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Logistic Regression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246120" y="19202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baseline (run 1)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2487168"/>
            <a:ext cx="4206240" cy="457200"/>
          </a:xfrm>
          <a:prstGeom prst="roundRect">
            <a:avLst>
              <a:gd name="adj" fmla="val 12000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CFCBB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0120" y="248716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XGBoost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246120" y="248716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Depth-wise boosting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" y="3054096"/>
            <a:ext cx="4206240" cy="457200"/>
          </a:xfrm>
          <a:prstGeom prst="roundRect">
            <a:avLst>
              <a:gd name="adj" fmla="val 12000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CFCBB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60120" y="305409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LightGBM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246120" y="305409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Leaf-wise, fastest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2960" y="3621024"/>
            <a:ext cx="4206240" cy="457200"/>
          </a:xfrm>
          <a:prstGeom prst="roundRect">
            <a:avLst>
              <a:gd name="adj" fmla="val 12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60120" y="362102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CatBoost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246120" y="362102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 model</a:t>
            </a:r>
            <a:endParaRPr lang="en-US" sz="1300" dirty="0"/>
          </a:p>
        </p:txBody>
      </p:sp>
      <p:sp>
        <p:nvSpPr>
          <p:cNvPr id="18" name="why"/>
          <p:cNvSpPr/>
          <p:nvPr/>
        </p:nvSpPr>
        <p:spPr>
          <a:xfrm>
            <a:off x="5486400" y="1280160"/>
            <a:ext cx="6172200" cy="3017520"/>
          </a:xfrm>
          <a:prstGeom prst="roundRect">
            <a:avLst>
              <a:gd name="adj" fmla="val 2424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CFCBB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760720" y="141732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CatBoost wins on Telco data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760720" y="1920240"/>
            <a:ext cx="5669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categorical handling via ordered target statistics, so no target leakage and no one-hot blow-up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Symmetric (oblivious) trees resist overfitting on 5,634 rows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default accuracy, leaving the 15 runs for tuning, not rescuing</a:t>
            </a:r>
            <a:endParaRPr lang="en-US" sz="1500" dirty="0"/>
          </a:p>
        </p:txBody>
      </p:sp>
      <p:sp>
        <p:nvSpPr>
          <p:cNvPr id="21" name="planner"/>
          <p:cNvSpPr/>
          <p:nvPr/>
        </p:nvSpPr>
        <p:spPr>
          <a:xfrm>
            <a:off x="548640" y="4526280"/>
            <a:ext cx="5486400" cy="1508760"/>
          </a:xfrm>
          <a:prstGeom prst="roundRect">
            <a:avLst>
              <a:gd name="adj" fmla="val 4848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CFCBB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2960" y="46177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453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Planner logic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502920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overfit gap and PR-AUC after each run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Adjusts depth, l2_leaf_reg, scale_pos_weight, learning_rate, rsm</a:t>
            </a:r>
            <a:endParaRPr lang="en-US" sz="1400" dirty="0"/>
          </a:p>
        </p:txBody>
      </p:sp>
      <p:sp>
        <p:nvSpPr>
          <p:cNvPr id="24" name="guard"/>
          <p:cNvSpPr/>
          <p:nvPr/>
        </p:nvSpPr>
        <p:spPr>
          <a:xfrm>
            <a:off x="6172200" y="4526280"/>
            <a:ext cx="5486400" cy="1508760"/>
          </a:xfrm>
          <a:prstGeom prst="roundRect">
            <a:avLst>
              <a:gd name="adj" fmla="val 4848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CFCBB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46520" y="46177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453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Hard guardrails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446520" y="502920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JSON-only output, bounds checked in Python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exec(): the LLM can never trigger extra fits</a:t>
            </a:r>
            <a:endParaRPr lang="en-US" sz="14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475569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FAF6EE"/>
      </a:solidFill>
      <a:effectLst/>
    </p:bgPr>
  </p:bg>
  <p:cSld name="Slide 6"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 descr="cream_wireframe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 txBox="1"/>
          <p:nvPr/>
        </p:nvSpPr>
        <p:spPr>
          <a:xfrm>
            <a:off x="548640" y="36576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//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1600200" y="365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EXPERIMENT HISTORY &amp; SEARCH</a:t>
            </a:r>
            <a:endParaRPr lang="en-US" sz="3000" dirty="0"/>
          </a:p>
        </p:txBody>
      </p:sp>
      <p:sp>
        <p:nvSpPr>
          <p:cNvPr id="4" name="phase"/>
          <p:cNvSpPr/>
          <p:nvPr/>
        </p:nvSpPr>
        <p:spPr>
          <a:xfrm>
            <a:off x="548640" y="1280160"/>
            <a:ext cx="3611880" cy="2240280"/>
          </a:xfrm>
          <a:prstGeom prst="roundRect">
            <a:avLst>
              <a:gd name="adj" fmla="val 3265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CFCBBD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22960" y="14173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RUNS 1-4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7373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tournament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28600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LogReg, XGBoost, LightGBM, CatBoost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onto the best family</a:t>
            </a:r>
            <a:endParaRPr lang="en-US" sz="1400" dirty="0"/>
          </a:p>
        </p:txBody>
      </p:sp>
      <p:sp>
        <p:nvSpPr>
          <p:cNvPr id="8" name="phase"/>
          <p:cNvSpPr/>
          <p:nvPr/>
        </p:nvSpPr>
        <p:spPr>
          <a:xfrm>
            <a:off x="4297680" y="1280160"/>
            <a:ext cx="3611880" cy="2240280"/>
          </a:xfrm>
          <a:prstGeom prst="roundRect">
            <a:avLst>
              <a:gd name="adj" fmla="val 3265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CFCBBD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4572000" y="14173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RUNS 5-7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17373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Structural tuning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228600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weight about 1.7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4-5, l2_leaf_reg 8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learning_rate 0.03</a:t>
            </a:r>
            <a:endParaRPr lang="en-US" sz="1400" dirty="0"/>
          </a:p>
        </p:txBody>
      </p:sp>
      <p:sp>
        <p:nvSpPr>
          <p:cNvPr id="12" name="phase"/>
          <p:cNvSpPr/>
          <p:nvPr/>
        </p:nvSpPr>
        <p:spPr>
          <a:xfrm>
            <a:off x="8046720" y="1280160"/>
            <a:ext cx="3611880" cy="2240280"/>
          </a:xfrm>
          <a:prstGeom prst="roundRect">
            <a:avLst>
              <a:gd name="adj" fmla="val 3265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CFCBBD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8321040" y="14173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453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RUNS 8-9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17373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Refine and halt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8321040" y="228600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rsm = 0.75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if gain &lt; 0.001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703320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Strategy: bandit exploration, then guided tuning, then a convergence brake. Early stopping inside each fit replaces separate n_estimators runs.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4389120"/>
            <a:ext cx="11109960" cy="1645920"/>
          </a:xfrm>
          <a:prstGeom prst="rect">
            <a:avLst/>
          </a:prstGeom>
          <a:solidFill>
            <a:srgbClr val="FFFFFF">
              <a:alpha val="65000"/>
            </a:srgbClr>
          </a:solidFill>
          <a:ln w="15875">
            <a:solidFill>
              <a:srgbClr val="1D4ED8"/>
            </a:solidFill>
            <a:prstDash val="dash"/>
          </a:ln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548640" y="4389120"/>
            <a:ext cx="11109960" cy="164592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0" indent="0" algn="ctr">
              <a:buNone/>
              <a:defRPr b="1"/>
            </a:pPr>
            <a:r>
              <a:t>RUN LOG &amp; TOURNAMENT BENCHMARK (RESULTS.md)</a:t>
            </a:r>
            <a:endParaRPr lang="en-US" sz="1400" dirty="0"/>
          </a:p>
          <a:p>
            <a:r>
              <a:t>Run 01 | CatBoost Baseline | Depth 6, L2 3.0, LR 0.05, Unweighted | 0.84974 ROC | 11.27% Overfit</a:t>
            </a:r>
          </a:p>
          <a:p>
            <a:r>
              <a:t>Run 02 | LightGBM          | Depth 6, L2 3.0, LR 0.05, Leaf-Wise  | 0.84845 ROC | 18.98% Overfit (1.4s fit)</a:t>
            </a:r>
          </a:p>
          <a:p>
            <a:r>
              <a:t>Run 03 | XGBoost           | Depth 6, L2 3.0, LR 0.05, Taylor     | 0.84879 ROC | 19.92% Overfit (2.3s fit)</a:t>
            </a:r>
          </a:p>
          <a:p>
            <a:r>
              <a:t>Run 04 | Random Forest     | Depth 8, Trees 300, Bagging          | 0.84728 ROC | 39.73% Overfit (Memory trap)</a:t>
            </a:r>
          </a:p>
          <a:p>
            <a:r>
              <a:t>Run 05 | Logistic Reg      | L-BFGS, C=1.0, L2 Penalty            | 0.84681 ROC |  8.33% Overfit (Fastest 0.6s)</a:t>
            </a:r>
          </a:p>
          <a:p>
            <a:r>
              <a:t>Run 12 | CatBoost CHAMPION | Depth 5, L2 14.0 (+366%), Balanced   | 0.85058 ROC |  6.88% Overfit (Holdout: 0.8443)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475569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FAF6EE"/>
      </a:solidFill>
      <a:effectLst/>
    </p:bgPr>
  </p:bg>
  <p:cSld name="Slide 7"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34" descr="cream_wireframe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 txBox="1"/>
          <p:nvPr/>
        </p:nvSpPr>
        <p:spPr>
          <a:xfrm>
            <a:off x="548640" y="36576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//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1600200" y="365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EVALUATION METHODOLOGY</a:t>
            </a:r>
            <a:endParaRPr lang="en-US" sz="3000" dirty="0"/>
          </a:p>
        </p:txBody>
      </p:sp>
      <p:sp>
        <p:nvSpPr>
          <p:cNvPr id="4" name="metric"/>
          <p:cNvSpPr/>
          <p:nvPr/>
        </p:nvSpPr>
        <p:spPr>
          <a:xfrm>
            <a:off x="548640" y="1325880"/>
            <a:ext cx="3611880" cy="2240280"/>
          </a:xfrm>
          <a:prstGeom prst="roundRect">
            <a:avLst>
              <a:gd name="adj" fmla="val 3265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CFCBB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00200"/>
            <a:ext cx="411480" cy="4114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600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1488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ROC-AUC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6517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metric: ranking quality across all thresholds.</a:t>
            </a:r>
            <a:endParaRPr lang="en-US" sz="1500" dirty="0"/>
          </a:p>
        </p:txBody>
      </p:sp>
      <p:sp>
        <p:nvSpPr>
          <p:cNvPr id="9" name="metric"/>
          <p:cNvSpPr/>
          <p:nvPr/>
        </p:nvSpPr>
        <p:spPr>
          <a:xfrm>
            <a:off x="4297680" y="1325880"/>
            <a:ext cx="3611880" cy="2240280"/>
          </a:xfrm>
          <a:prstGeom prst="roundRect">
            <a:avLst>
              <a:gd name="adj" fmla="val 3265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CFCBB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1600200"/>
            <a:ext cx="411480" cy="41148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0" y="1600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21488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PR-AUC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26517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metric: accuracy on the churner minority class.</a:t>
            </a:r>
            <a:endParaRPr lang="en-US" sz="1500" dirty="0"/>
          </a:p>
        </p:txBody>
      </p:sp>
      <p:sp>
        <p:nvSpPr>
          <p:cNvPr id="14" name="metric"/>
          <p:cNvSpPr/>
          <p:nvPr/>
        </p:nvSpPr>
        <p:spPr>
          <a:xfrm>
            <a:off x="8046720" y="1325880"/>
            <a:ext cx="3611880" cy="2240280"/>
          </a:xfrm>
          <a:prstGeom prst="roundRect">
            <a:avLst>
              <a:gd name="adj" fmla="val 3265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CFCBB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21040" y="1600200"/>
            <a:ext cx="411480" cy="41148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0" y="1600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21488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Validation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26517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stratified 80/20 holdout, no k-fold.</a:t>
            </a:r>
            <a:endParaRPr lang="en-US" sz="1500" dirty="0"/>
          </a:p>
        </p:txBody>
      </p:sp>
      <p:sp>
        <p:nvSpPr>
          <p:cNvPr id="19" name="metric"/>
          <p:cNvSpPr/>
          <p:nvPr/>
        </p:nvSpPr>
        <p:spPr>
          <a:xfrm>
            <a:off x="548640" y="3749040"/>
            <a:ext cx="3611880" cy="2240280"/>
          </a:xfrm>
          <a:prstGeom prst="roundRect">
            <a:avLst>
              <a:gd name="adj" fmla="val 3265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CFCBB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4023360"/>
            <a:ext cx="411480" cy="4114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4023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4572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Probabilities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50749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predict_proba scores, never 0/1 labels.</a:t>
            </a:r>
            <a:endParaRPr lang="en-US" sz="1500" dirty="0"/>
          </a:p>
        </p:txBody>
      </p:sp>
      <p:sp>
        <p:nvSpPr>
          <p:cNvPr id="24" name="metric"/>
          <p:cNvSpPr/>
          <p:nvPr/>
        </p:nvSpPr>
        <p:spPr>
          <a:xfrm>
            <a:off x="4297680" y="3749040"/>
            <a:ext cx="3611880" cy="2240280"/>
          </a:xfrm>
          <a:prstGeom prst="roundRect">
            <a:avLst>
              <a:gd name="adj" fmla="val 3265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CFCBB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0" y="4023360"/>
            <a:ext cx="411480" cy="41148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572000" y="4023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0" y="4572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Overfit gap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0" y="50749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AUC minus validation AUC, the planner's main signal.</a:t>
            </a:r>
            <a:endParaRPr lang="en-US" sz="1500" dirty="0"/>
          </a:p>
        </p:txBody>
      </p:sp>
      <p:sp>
        <p:nvSpPr>
          <p:cNvPr id="29" name="metric"/>
          <p:cNvSpPr/>
          <p:nvPr/>
        </p:nvSpPr>
        <p:spPr>
          <a:xfrm>
            <a:off x="8046720" y="3749040"/>
            <a:ext cx="3611880" cy="2240280"/>
          </a:xfrm>
          <a:prstGeom prst="roundRect">
            <a:avLst>
              <a:gd name="adj" fmla="val 3265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CFCBB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21040" y="4023360"/>
            <a:ext cx="411480" cy="41148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321040" y="4023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8321040" y="4572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Efficiency</a:t>
            </a:r>
            <a:endParaRPr lang="en-US" sz="2000" dirty="0"/>
          </a:p>
        </p:txBody>
      </p:sp>
      <p:sp>
        <p:nvSpPr>
          <p:cNvPr id="33" name="Text 31"/>
          <p:cNvSpPr txBox="1"/>
          <p:nvPr/>
        </p:nvSpPr>
        <p:spPr>
          <a:xfrm>
            <a:off x="8321040" y="50749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used out of 15, which feeds the final score.</a:t>
            </a:r>
            <a:endParaRPr lang="en-US" sz="15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475569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FAF6EE"/>
      </a:solidFill>
      <a:effectLst/>
    </p:bgPr>
  </p:bg>
  <p:cSld name="Slide 8"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 descr="cream_wireframe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 txBox="1"/>
          <p:nvPr/>
        </p:nvSpPr>
        <p:spPr>
          <a:xfrm>
            <a:off x="548640" y="36576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//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1600200" y="365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6766560" cy="329184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Model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ROC-AUC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PR-AUC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Handbook target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B1F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Logistic Regression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0.8468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0.6603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about 0.80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B1F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XGBoost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0.8488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0.6630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B1F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LightGBM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0.8485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0.6627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B1F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CatBoost (tuned)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0.8506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0.6645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1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0.85+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1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B1F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Weighted blend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0.8506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0.6660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+0.003 to +0.005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tat"/>
          <p:cNvSpPr/>
          <p:nvPr/>
        </p:nvSpPr>
        <p:spPr>
          <a:xfrm>
            <a:off x="7589520" y="1325880"/>
            <a:ext cx="4069080" cy="1005840"/>
          </a:xfrm>
          <a:prstGeom prst="roundRect">
            <a:avLst>
              <a:gd name="adj" fmla="val 7273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CFCBBD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7772400" y="132588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15 / 15</a:t>
            </a:r>
          </a:p>
        </p:txBody>
      </p:sp>
      <p:sp>
        <p:nvSpPr>
          <p:cNvPr id="7" name="Text 4"/>
          <p:cNvSpPr txBox="1"/>
          <p:nvPr/>
        </p:nvSpPr>
        <p:spPr>
          <a:xfrm>
            <a:off x="9875520" y="132588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used</a:t>
            </a:r>
            <a:endParaRPr lang="en-US" sz="1400" dirty="0"/>
          </a:p>
        </p:txBody>
      </p:sp>
      <p:sp>
        <p:nvSpPr>
          <p:cNvPr id="8" name="stat"/>
          <p:cNvSpPr/>
          <p:nvPr/>
        </p:nvSpPr>
        <p:spPr>
          <a:xfrm>
            <a:off x="7589520" y="2468880"/>
            <a:ext cx="4069080" cy="1005840"/>
          </a:xfrm>
          <a:prstGeom prst="roundRect">
            <a:avLst>
              <a:gd name="adj" fmla="val 7273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CFCBBD"/>
            </a:solidFill>
            <a:prstDash val="solid"/>
          </a:ln>
        </p:spPr>
        <p:txBody>
          <a:bodyPr/>
          <a:p/>
        </p:txBody>
      </p:sp>
      <p:sp>
        <p:nvSpPr>
          <p:cNvPr id="4" name="Text 6"/>
          <p:cNvSpPr txBox="1"/>
          <p:nvPr/>
        </p:nvSpPr>
        <p:spPr>
          <a:xfrm>
            <a:off x="7772400" y="246888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Optimal</a:t>
            </a:r>
          </a:p>
        </p:txBody>
      </p:sp>
      <p:sp>
        <p:nvSpPr>
          <p:cNvPr id="10" name="Text 7"/>
          <p:cNvSpPr txBox="1"/>
          <p:nvPr/>
        </p:nvSpPr>
        <p:spPr>
          <a:xfrm>
            <a:off x="9875520" y="246888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saved</a:t>
            </a:r>
            <a:endParaRPr lang="en-US" sz="1400" dirty="0"/>
          </a:p>
        </p:txBody>
      </p:sp>
      <p:sp>
        <p:nvSpPr>
          <p:cNvPr id="11" name="stat"/>
          <p:cNvSpPr/>
          <p:nvPr/>
        </p:nvSpPr>
        <p:spPr>
          <a:xfrm>
            <a:off x="7589520" y="3611880"/>
            <a:ext cx="4069080" cy="1005840"/>
          </a:xfrm>
          <a:prstGeom prst="roundRect">
            <a:avLst>
              <a:gd name="adj" fmla="val 7273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CFCBBD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7772400" y="361188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extra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9875520" y="361188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for blending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4846320"/>
            <a:ext cx="11109960" cy="1280160"/>
          </a:xfrm>
          <a:prstGeom prst="rect">
            <a:avLst/>
          </a:prstGeom>
          <a:solidFill>
            <a:srgbClr val="FFFFFF">
              <a:alpha val="65000"/>
            </a:srgbClr>
          </a:solidFill>
          <a:ln w="15875">
            <a:solidFill>
              <a:srgbClr val="1D4ED8"/>
            </a:solidFill>
            <a:prstDash val="dash"/>
          </a:ln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548640" y="4846320"/>
            <a:ext cx="11109960" cy="128016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r>
              <a:t>Trajectory: Steady climb from 0.8468 (Run 5) to Champion 0.8506 (Run 12). Plateau convergence brake engaged at Run 15 (Gain &lt; 0.001).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475569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FAF6EE"/>
      </a:solidFill>
      <a:effectLst/>
    </p:bgPr>
  </p:bg>
  <p:cSld name="Slide 9"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 descr="cream_wireframe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 txBox="1"/>
          <p:nvPr/>
        </p:nvSpPr>
        <p:spPr>
          <a:xfrm>
            <a:off x="548640" y="36576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//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1600200" y="365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DEMO &amp; SAMPLE OUTPUTS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5486400" cy="3017520"/>
          </a:xfrm>
          <a:prstGeom prst="rect">
            <a:avLst/>
          </a:prstGeom>
          <a:solidFill>
            <a:srgbClr val="FFFFFF">
              <a:alpha val="65000"/>
            </a:srgbClr>
          </a:solidFill>
          <a:ln w="15875">
            <a:solidFill>
              <a:srgbClr val="1D4ED8"/>
            </a:solidFill>
            <a:prstDash val="dash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5486400" cy="301752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SCREENSHOT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dashboard: budget gauge, reasoning terminal, metric charts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172200" y="1280160"/>
            <a:ext cx="5486400" cy="3017520"/>
          </a:xfrm>
          <a:prstGeom prst="rect">
            <a:avLst/>
          </a:prstGeom>
          <a:solidFill>
            <a:srgbClr val="FFFFFF">
              <a:alpha val="65000"/>
            </a:srgbClr>
          </a:solidFill>
          <a:ln w="15875">
            <a:solidFill>
              <a:srgbClr val="1D4ED8"/>
            </a:solidFill>
            <a:prstDash val="dash"/>
          </a:ln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6172200" y="1280160"/>
            <a:ext cx="5486400" cy="301752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SCREENSHOT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Hyperparameter table with champion run highlighted</a:t>
            </a:r>
            <a:endParaRPr lang="en-US" sz="1400" dirty="0"/>
          </a:p>
        </p:txBody>
      </p:sp>
      <p:sp>
        <p:nvSpPr>
          <p:cNvPr id="8" name="reasoning"/>
          <p:cNvSpPr/>
          <p:nvPr/>
        </p:nvSpPr>
        <p:spPr>
          <a:xfrm>
            <a:off x="548640" y="4526280"/>
            <a:ext cx="6949440" cy="1508760"/>
          </a:xfrm>
          <a:prstGeom prst="roundRect">
            <a:avLst>
              <a:gd name="adj" fmla="val 4848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CFCBBD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822960" y="46177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Sample planner reasoning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502920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"Overfit gap prioritized: pruned depth (6 to 5) and scaled L2 penalty to 14.0 (+366%) with Balanced class weighting. Overfitting index dropped 38.9% (11.27% to 6.88%) while widening class separation margin to 0.3683 (+18.0%). Champion Model #12 achieves 0.8506 OOF ROC-AUC and 0.8443 Sealed Holdout ROC-AUC."</a:t>
            </a:r>
          </a:p>
        </p:txBody>
      </p:sp>
      <p:sp>
        <p:nvSpPr>
          <p:cNvPr id="11" name="Shape 9"/>
          <p:cNvSpPr/>
          <p:nvPr/>
        </p:nvSpPr>
        <p:spPr>
          <a:xfrm>
            <a:off x="7680960" y="4526280"/>
            <a:ext cx="3977640" cy="1508760"/>
          </a:xfrm>
          <a:prstGeom prst="rect">
            <a:avLst/>
          </a:prstGeom>
          <a:solidFill>
            <a:srgbClr val="FFFFFF">
              <a:alpha val="65000"/>
            </a:srgbClr>
          </a:solidFill>
          <a:ln w="15875">
            <a:solidFill>
              <a:srgbClr val="1D4ED8"/>
            </a:solidFill>
            <a:prstDash val="dash"/>
          </a:ln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7680960" y="4526280"/>
            <a:ext cx="3977640" cy="150876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0" indent="0" algn="ctr">
              <a:buNone/>
              <a:defRPr b="1"/>
            </a:pPr>
            <a:r>
              <a:t>SAMPLE PREDICTIONS (SEALED HOLDOUT - 1,409 ROWS)</a:t>
            </a:r>
            <a:endParaRPr lang="en-US" sz="1400" dirty="0"/>
          </a:p>
          <a:p>
            <a:r>
              <a:t>• CUST_00001: 89.3% churn risk [HIGH HAZARD - Fiber, M2M]</a:t>
            </a:r>
          </a:p>
          <a:p>
            <a:r>
              <a:t>• CUST_00004: 1.8% churn risk [LOYAL / STABLE - 2-Year]</a:t>
            </a:r>
          </a:p>
          <a:p>
            <a:r>
              <a:t>• Decision Cutoff J* = 0.49: 78.9% recall (295/374 caught)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475569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FAF6EE"/>
      </a:solidFill>
      <a:effectLst/>
    </p:bgPr>
  </p:bg>
  <p:cSld name="Slide 10"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 descr="cream_wireframe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 txBox="1"/>
          <p:nvPr/>
        </p:nvSpPr>
        <p:spPr>
          <a:xfrm>
            <a:off x="548640" y="36576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//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1600200" y="365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LIMITATIONS, FUTURE &amp; CONCLUSION</a:t>
            </a:r>
            <a:endParaRPr lang="en-US" sz="3000" dirty="0"/>
          </a:p>
        </p:txBody>
      </p:sp>
      <p:sp>
        <p:nvSpPr>
          <p:cNvPr id="4" name="limits"/>
          <p:cNvSpPr/>
          <p:nvPr/>
        </p:nvSpPr>
        <p:spPr>
          <a:xfrm>
            <a:off x="548640" y="1280160"/>
            <a:ext cx="3520440" cy="4754880"/>
          </a:xfrm>
          <a:prstGeom prst="roundRect">
            <a:avLst>
              <a:gd name="adj" fmla="val 2078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CFCBB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4630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453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011680"/>
            <a:ext cx="30175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table, no temporal or behavioral signals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validation split gives a noisy estimate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 quality depends on LLM reasoning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weighting can trade ROC-AUC for recall</a:t>
            </a:r>
            <a:endParaRPr lang="en-US" sz="1400" dirty="0"/>
          </a:p>
        </p:txBody>
      </p:sp>
      <p:sp>
        <p:nvSpPr>
          <p:cNvPr id="7" name="future"/>
          <p:cNvSpPr/>
          <p:nvPr/>
        </p:nvSpPr>
        <p:spPr>
          <a:xfrm>
            <a:off x="4251960" y="1280160"/>
            <a:ext cx="3520440" cy="4754880"/>
          </a:xfrm>
          <a:prstGeom prst="roundRect">
            <a:avLst>
              <a:gd name="adj" fmla="val 2078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CFCBB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26280" y="14630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Future work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526280" y="2011680"/>
            <a:ext cx="30175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calibration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Cost-sensitive decision thresholds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behavior features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explainability for each churn score</a:t>
            </a:r>
            <a:endParaRPr lang="en-US" sz="1400" dirty="0"/>
          </a:p>
        </p:txBody>
      </p:sp>
      <p:sp>
        <p:nvSpPr>
          <p:cNvPr id="10" name="conclusion"/>
          <p:cNvSpPr/>
          <p:nvPr/>
        </p:nvSpPr>
        <p:spPr>
          <a:xfrm>
            <a:off x="7955280" y="1280160"/>
            <a:ext cx="3703320" cy="4754880"/>
          </a:xfrm>
          <a:prstGeom prst="roundRect">
            <a:avLst>
              <a:gd name="adj" fmla="val 1975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0" y="14630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0" y="2011680"/>
            <a:ext cx="3200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LLM-guided tuning with hard budget guardrails reaches strong ROC-AUC in fewer experiments, and every decision is logged and auditable.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0" y="52120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QUANTA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475569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934</Words>
  <Application>Microsoft Office PowerPoint</Application>
  <PresentationFormat>Widescreen</PresentationFormat>
  <Paragraphs>209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QUANTA - Autonomous AI Data Scientist</dc:title>
  <dc:subject>PptxGenJS Presentation</dc:subject>
  <dc:creator>QUANTA</dc:creator>
  <cp:lastModifiedBy>Jayavardhan Gandrotula</cp:lastModifiedBy>
  <cp:revision>1</cp:revision>
  <dcterms:created xsi:type="dcterms:W3CDTF">2026-10-26T17:56:36Z</dcterms:created>
  <dcterms:modified xsi:type="dcterms:W3CDTF">2026-10-26T18:01:15Z</dcterms:modified>
</cp:coreProperties>
</file>